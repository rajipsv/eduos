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7B3AB-FDDE-9761-13C4-18D5D3A1C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6CCCBA-F1B8-2C19-D868-3FFDF44EC8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D53187-B7CE-41BB-5932-BA1CE3B0E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6A919-DD97-42F6-B497-7350C77AA6CD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BE443-AB06-EAEE-C9C2-CA2C3B409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BC524-63A7-0701-2F8B-EF288BE48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CD6B4-93E7-4DA7-871A-B24F18DF9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188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17C18-4D84-4802-CCF3-5DAA3785C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72DC3-77DE-B127-8D44-771533EEF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7617E-9F7E-D852-983E-30D9DEE7B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6A919-DD97-42F6-B497-7350C77AA6CD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3BBE57-319A-D7B3-2340-08698220D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28253-9812-5275-10FA-3C1EA1416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CD6B4-93E7-4DA7-871A-B24F18DF9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49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2E596-2D8D-3641-3A31-98596835A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B51062-8E7B-1AAB-77CF-A18FAB7B37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B06D7-35B7-65A6-D417-33C7447CD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6A919-DD97-42F6-B497-7350C77AA6CD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7C9EF-32DB-4907-6A7F-193C67F05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ACC52A-4D33-4E5C-4039-2FA98CC2B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CD6B4-93E7-4DA7-871A-B24F18DF9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728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1F3DE-92B4-2E05-53F9-1D3A27FE5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EB694-3F8F-EF1B-E71F-3FB37A6C9E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DF5F49-5850-1B2F-4E79-C59BED85FE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8EE93D-4EDD-1DCA-BF36-56F36911B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6A919-DD97-42F6-B497-7350C77AA6CD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2C5204-DA3B-1864-36A4-6B428D6D6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09420-3F12-C770-BB8A-637C03AC0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CD6B4-93E7-4DA7-871A-B24F18DF9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987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AB328-A384-8399-A278-87DAAD990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C5102E-5A66-BEDE-8FD7-1CC781854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02A991-85C0-373D-2C7D-3D9DE35960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A4ABD6-889D-2CFE-DCCD-9037417810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4E3D67-C082-FD41-254C-80E424D820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69DAD5-45E8-D3BF-09F0-F7C83911B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6A919-DD97-42F6-B497-7350C77AA6CD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C7A16D-C918-9924-A153-D375F3022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F32ED0-4E19-3B02-7BDF-CF5E1AF8E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CD6B4-93E7-4DA7-871A-B24F18DF9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544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88AE5-CFD5-99D0-797B-1190F65DA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A971AE-35BF-2537-386F-FD347A502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6A919-DD97-42F6-B497-7350C77AA6CD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B53BF3-5973-3B32-B2F9-C2966E806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60415F-0F73-08F9-9961-4B5CDF1C5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CD6B4-93E7-4DA7-871A-B24F18DF9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118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E10602-7E35-8A5A-25FD-D356AD29D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6A919-DD97-42F6-B497-7350C77AA6CD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DBC021-D4CA-63D7-47AB-CDFF00A7F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DBD442-41C9-86A5-E5E0-C0D6218F5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CD6B4-93E7-4DA7-871A-B24F18DF9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27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41436-8BE2-88AF-BF7D-F9F05CBFF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05C80-3178-F3B6-9769-E459AB9ED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8DB1BC-7B51-F247-D2EA-7592D689A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38DBAA-C49A-E8B6-B778-DEC0FC469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6A919-DD97-42F6-B497-7350C77AA6CD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2C8598-792E-F291-F18C-AF3FB3C5B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CF39D4-0A08-3582-CFE8-91100E859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CD6B4-93E7-4DA7-871A-B24F18DF9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245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1AD58-AF37-FA30-BC83-8A32647C6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B9E141-9DF0-CF29-2E2F-B48E2342A6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C2A10F-9A76-F7D5-0418-F776F31170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C7CF74-C2B8-F7E1-BB4E-BB5BA1EF0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6A919-DD97-42F6-B497-7350C77AA6CD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27E8DE-6CDB-CEEF-40D3-CD35926E6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4E0698-C3AA-F8A7-0507-7C1BBC36E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CD6B4-93E7-4DA7-871A-B24F18DF9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573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4AB64-A1AE-76F8-4643-A7EC71B28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C1D2A3-9337-9DD5-4696-EA7F232A27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507A7-15DC-BD70-CA3A-E7DDB3442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6A919-DD97-42F6-B497-7350C77AA6CD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DA7D9-45E6-844A-100F-AC5D053AF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A2B3C-D202-1108-A074-E5F41B12E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CD6B4-93E7-4DA7-871A-B24F18DF9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905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9A8429-8BE4-A969-E901-1FD7346140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E663C6-B114-FAAE-6F9D-8B8A007EED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D22D9-A650-7AC7-0821-0A73E1D7E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6A919-DD97-42F6-B497-7350C77AA6CD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79C643-FA30-E047-FEF8-20EB70400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5D94D-28BA-6F62-E763-5B3DC3DB2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CD6B4-93E7-4DA7-871A-B24F18DF9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034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FF9E33-86E8-479F-2929-87F45A4F8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0E3BAF-DA8C-839C-75D4-66D2DE961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177E6-C0AA-BE95-8FC0-015E13FA3B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16A919-DD97-42F6-B497-7350C77AA6CD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BB5E7-9A38-1512-E709-5AA9E88D73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56E03-811B-71B1-7CAC-9F86C6AFBB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2CD6B4-93E7-4DA7-871A-B24F18DF9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737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6A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BB4F58-0A86-1506-3D13-D1E1626A2A44}"/>
              </a:ext>
            </a:extLst>
          </p:cNvPr>
          <p:cNvSpPr txBox="1"/>
          <p:nvPr/>
        </p:nvSpPr>
        <p:spPr>
          <a:xfrm>
            <a:off x="508000" y="1270000"/>
            <a:ext cx="8128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DCEBE4"/>
                </a:solidFill>
              </a:rPr>
              <a:t>WORKFLOW AND HIGH-LEVEL DESIGN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5030D2-54BA-DB68-F15F-57C174DDC871}"/>
              </a:ext>
            </a:extLst>
          </p:cNvPr>
          <p:cNvSpPr txBox="1"/>
          <p:nvPr/>
        </p:nvSpPr>
        <p:spPr>
          <a:xfrm>
            <a:off x="508000" y="1778000"/>
            <a:ext cx="8128000" cy="9233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5400" b="1">
                <a:solidFill>
                  <a:srgbClr val="FFFFFF"/>
                </a:solidFill>
              </a:rPr>
              <a:t>EduOS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713FB2-5C73-4E26-CAF5-FB6CA2B9FEDC}"/>
              </a:ext>
            </a:extLst>
          </p:cNvPr>
          <p:cNvSpPr txBox="1"/>
          <p:nvPr/>
        </p:nvSpPr>
        <p:spPr>
          <a:xfrm>
            <a:off x="508000" y="2794000"/>
            <a:ext cx="787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solidFill>
                  <a:srgbClr val="F0F8F4"/>
                </a:solidFill>
              </a:rPr>
              <a:t>Tutoring operations platform - not an LMS | Multi-tenant MVP | Local-first demo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668430-1A8C-E975-B4B5-97181A40EBDB}"/>
              </a:ext>
            </a:extLst>
          </p:cNvPr>
          <p:cNvSpPr txBox="1"/>
          <p:nvPr/>
        </p:nvSpPr>
        <p:spPr>
          <a:xfrm>
            <a:off x="508000" y="5842000"/>
            <a:ext cx="8128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C8DCD2"/>
                </a:solidFill>
              </a:rPr>
              <a:t>Source: docs/EDUOS-WORKFLOW.md | tutor-hub codebase</a:t>
            </a:r>
          </a:p>
        </p:txBody>
      </p:sp>
    </p:spTree>
    <p:extLst>
      <p:ext uri="{BB962C8B-B14F-4D97-AF65-F5344CB8AC3E}">
        <p14:creationId xmlns:p14="http://schemas.microsoft.com/office/powerpoint/2010/main" val="1691046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3F33BC-5679-873E-3829-47F70B945080}"/>
              </a:ext>
            </a:extLst>
          </p:cNvPr>
          <p:cNvSpPr txBox="1"/>
          <p:nvPr/>
        </p:nvSpPr>
        <p:spPr>
          <a:xfrm>
            <a:off x="508000" y="355600"/>
            <a:ext cx="8128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000" b="1">
                <a:solidFill>
                  <a:srgbClr val="1B4332"/>
                </a:solidFill>
              </a:rPr>
              <a:t>1. What EduOS 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58203A-35F2-EAB7-18B3-8BC7A498CC4F}"/>
              </a:ext>
            </a:extLst>
          </p:cNvPr>
          <p:cNvSpPr txBox="1"/>
          <p:nvPr/>
        </p:nvSpPr>
        <p:spPr>
          <a:xfrm>
            <a:off x="609600" y="1651000"/>
            <a:ext cx="8128000" cy="18158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1A2E1A"/>
                </a:solidFill>
              </a:rPr>
              <a:t>- Operating system for tuition centers - everything around teaching</a:t>
            </a:r>
          </a:p>
          <a:p>
            <a:r>
              <a:rPr lang="en-US" sz="1600">
                <a:solidFill>
                  <a:srgbClr val="1A2E1A"/>
                </a:solidFill>
              </a:rPr>
              <a:t>- Acquire and enroll students (CRM)</a:t>
            </a:r>
          </a:p>
          <a:p>
            <a:r>
              <a:rPr lang="en-US" sz="1600">
                <a:solidFill>
                  <a:srgbClr val="1A2E1A"/>
                </a:solidFill>
              </a:rPr>
              <a:t>- Run batches, schedules, attendance, tests</a:t>
            </a:r>
          </a:p>
          <a:p>
            <a:r>
              <a:rPr lang="en-US" sz="1600">
                <a:solidFill>
                  <a:srgbClr val="1A2E1A"/>
                </a:solidFill>
              </a:rPr>
              <a:t>- Message parents and staff; track success signals</a:t>
            </a:r>
          </a:p>
          <a:p>
            <a:r>
              <a:rPr lang="en-US" sz="1600">
                <a:solidFill>
                  <a:srgbClr val="1A2E1A"/>
                </a:solidFill>
              </a:rPr>
              <a:t>- Business intelligence and external tool connections</a:t>
            </a:r>
          </a:p>
          <a:p>
            <a:r>
              <a:rPr lang="en-US" sz="1600">
                <a:solidFill>
                  <a:srgbClr val="1A2E1A"/>
                </a:solidFill>
              </a:rPr>
              <a:t>- Teaching happens on Zoom, Meet, Khan Academy, etc.</a:t>
            </a:r>
          </a:p>
          <a:p>
            <a:r>
              <a:rPr lang="en-US" sz="1600">
                <a:solidFill>
                  <a:srgbClr val="1A2E1A"/>
                </a:solidFill>
              </a:rPr>
              <a:t>- EduOS coordinates logistics and visibility</a:t>
            </a:r>
          </a:p>
        </p:txBody>
      </p:sp>
    </p:spTree>
    <p:extLst>
      <p:ext uri="{BB962C8B-B14F-4D97-AF65-F5344CB8AC3E}">
        <p14:creationId xmlns:p14="http://schemas.microsoft.com/office/powerpoint/2010/main" val="4003553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9A36D9-5143-F58C-B450-7AC1531C8825}"/>
              </a:ext>
            </a:extLst>
          </p:cNvPr>
          <p:cNvSpPr txBox="1"/>
          <p:nvPr/>
        </p:nvSpPr>
        <p:spPr>
          <a:xfrm>
            <a:off x="508000" y="355600"/>
            <a:ext cx="8128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000" b="1">
                <a:solidFill>
                  <a:srgbClr val="1B4332"/>
                </a:solidFill>
              </a:rPr>
              <a:t>Multi-tenant 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2818AB-FCF2-FECF-42E8-87DE7565CAA8}"/>
              </a:ext>
            </a:extLst>
          </p:cNvPr>
          <p:cNvSpPr txBox="1"/>
          <p:nvPr/>
        </p:nvSpPr>
        <p:spPr>
          <a:xfrm>
            <a:off x="508000" y="990600"/>
            <a:ext cx="8128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D4F3D"/>
                </a:solidFill>
              </a:rPr>
              <a:t>Data scoped per center; one EduOS instance serves many academies.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04CF24-725F-E4F3-7AFD-F69935C3684B}"/>
              </a:ext>
            </a:extLst>
          </p:cNvPr>
          <p:cNvSpPr txBox="1"/>
          <p:nvPr/>
        </p:nvSpPr>
        <p:spPr>
          <a:xfrm>
            <a:off x="609600" y="1651000"/>
            <a:ext cx="8128000" cy="13234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1A2E1A"/>
                </a:solidFill>
              </a:rPr>
              <a:t>- PLATFORM OWNER: onboard centers, monitor usage, support view</a:t>
            </a:r>
          </a:p>
          <a:p>
            <a:r>
              <a:rPr lang="en-US" sz="1600">
                <a:solidFill>
                  <a:srgbClr val="1A2E1A"/>
                </a:solidFill>
              </a:rPr>
              <a:t>- Many centers (Center A, B, C...) each isolated by centerId</a:t>
            </a:r>
          </a:p>
          <a:p>
            <a:r>
              <a:rPr lang="en-US" sz="1600">
                <a:solidFill>
                  <a:srgbClr val="1A2E1A"/>
                </a:solidFill>
              </a:rPr>
              <a:t>- Per center: Admin, Teachers, Students, Parents</a:t>
            </a:r>
          </a:p>
          <a:p>
            <a:r>
              <a:rPr lang="en-US" sz="1600">
                <a:solidFill>
                  <a:srgbClr val="1A2E1A"/>
                </a:solidFill>
              </a:rPr>
              <a:t>- Platform owner can enter support view into one center workspace</a:t>
            </a:r>
          </a:p>
          <a:p>
            <a:r>
              <a:rPr lang="en-US" sz="1600">
                <a:solidFill>
                  <a:srgbClr val="1A2E1A"/>
                </a:solidFill>
              </a:rPr>
              <a:t>- New centers register on auth screen and get empty scoped workspace</a:t>
            </a:r>
          </a:p>
        </p:txBody>
      </p:sp>
    </p:spTree>
    <p:extLst>
      <p:ext uri="{BB962C8B-B14F-4D97-AF65-F5344CB8AC3E}">
        <p14:creationId xmlns:p14="http://schemas.microsoft.com/office/powerpoint/2010/main" val="2442753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D95469-2820-44E6-ECE9-4A4635159767}"/>
              </a:ext>
            </a:extLst>
          </p:cNvPr>
          <p:cNvSpPr txBox="1"/>
          <p:nvPr/>
        </p:nvSpPr>
        <p:spPr>
          <a:xfrm>
            <a:off x="508000" y="355600"/>
            <a:ext cx="8128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000" b="1">
                <a:solidFill>
                  <a:srgbClr val="1B4332"/>
                </a:solidFill>
              </a:rPr>
              <a:t>2. Design principles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495098-18ED-AAF5-E6E6-FB0EC8520139}"/>
              </a:ext>
            </a:extLst>
          </p:cNvPr>
          <p:cNvSpPr txBox="1"/>
          <p:nvPr/>
        </p:nvSpPr>
        <p:spPr>
          <a:xfrm>
            <a:off x="609600" y="1651000"/>
            <a:ext cx="8128000" cy="15696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1A2E1A"/>
                </a:solidFill>
              </a:rPr>
              <a:t>- Ops-first: CRM, schedule, attendance, comms - not course hosting</a:t>
            </a:r>
          </a:p>
          <a:p>
            <a:r>
              <a:rPr lang="en-US" sz="1600">
                <a:solidFill>
                  <a:srgbClr val="1A2E1A"/>
                </a:solidFill>
              </a:rPr>
              <a:t>- Multi-tenant: each center data isolated by centerId</a:t>
            </a:r>
          </a:p>
          <a:p>
            <a:r>
              <a:rPr lang="en-US" sz="1600">
                <a:solidFill>
                  <a:srgbClr val="1A2E1A"/>
                </a:solidFill>
              </a:rPr>
              <a:t>- Role-based portals: same app, different nav and permissions</a:t>
            </a:r>
          </a:p>
          <a:p>
            <a:r>
              <a:rPr lang="en-US" sz="1600">
                <a:solidFill>
                  <a:srgbClr val="1A2E1A"/>
                </a:solidFill>
              </a:rPr>
              <a:t>- Decisions not dashboards: BI suggests what to do next</a:t>
            </a:r>
          </a:p>
          <a:p>
            <a:r>
              <a:rPr lang="en-US" sz="1600">
                <a:solidFill>
                  <a:srgbClr val="1A2E1A"/>
                </a:solidFill>
              </a:rPr>
              <a:t>- Local MVP: localStorage, run via start.bat on port 8888</a:t>
            </a:r>
          </a:p>
          <a:p>
            <a:r>
              <a:rPr lang="en-US" sz="1600">
                <a:solidFill>
                  <a:srgbClr val="1A2E1A"/>
                </a:solidFill>
              </a:rPr>
              <a:t>- Deferred: payments / billing (Layer 10 removed)</a:t>
            </a:r>
          </a:p>
        </p:txBody>
      </p:sp>
    </p:spTree>
    <p:extLst>
      <p:ext uri="{BB962C8B-B14F-4D97-AF65-F5344CB8AC3E}">
        <p14:creationId xmlns:p14="http://schemas.microsoft.com/office/powerpoint/2010/main" val="3083154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7E4EF5-FB98-91DF-3FF9-8568D6FD5FC3}"/>
              </a:ext>
            </a:extLst>
          </p:cNvPr>
          <p:cNvSpPr txBox="1"/>
          <p:nvPr/>
        </p:nvSpPr>
        <p:spPr>
          <a:xfrm>
            <a:off x="508000" y="355600"/>
            <a:ext cx="8128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000" b="1">
                <a:solidFill>
                  <a:srgbClr val="1B4332"/>
                </a:solidFill>
              </a:rPr>
              <a:t>3. Roles and portals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3E7A18-8CDA-6E7F-D5F6-97F8D1437E8D}"/>
              </a:ext>
            </a:extLst>
          </p:cNvPr>
          <p:cNvSpPr txBox="1"/>
          <p:nvPr/>
        </p:nvSpPr>
        <p:spPr>
          <a:xfrm>
            <a:off x="609600" y="1651000"/>
            <a:ext cx="8128000" cy="15696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1A2E1A"/>
                </a:solidFill>
              </a:rPr>
              <a:t>- Platform owner -&gt; Platform dashboard | all centers + support view</a:t>
            </a:r>
          </a:p>
          <a:p>
            <a:r>
              <a:rPr lang="en-US" sz="1600">
                <a:solidFill>
                  <a:srgbClr val="1A2E1A"/>
                </a:solidFill>
              </a:rPr>
              <a:t>- Center admin -&gt; Command dashboard | full center workspace</a:t>
            </a:r>
          </a:p>
          <a:p>
            <a:r>
              <a:rPr lang="en-US" sz="1600">
                <a:solidFill>
                  <a:srgbClr val="1A2E1A"/>
                </a:solidFill>
              </a:rPr>
              <a:t>- Teacher -&gt; Teacher Today | own batches and students only</a:t>
            </a:r>
          </a:p>
          <a:p>
            <a:r>
              <a:rPr lang="en-US" sz="1600">
                <a:solidFill>
                  <a:srgbClr val="1A2E1A"/>
                </a:solidFill>
              </a:rPr>
              <a:t>- Student -&gt; Student home | own schedule and homework</a:t>
            </a:r>
          </a:p>
          <a:p>
            <a:r>
              <a:rPr lang="en-US" sz="1600">
                <a:solidFill>
                  <a:srgbClr val="1A2E1A"/>
                </a:solidFill>
              </a:rPr>
              <a:t>- Parent -&gt; Parent dashboard | linked children only</a:t>
            </a:r>
          </a:p>
          <a:p>
            <a:r>
              <a:rPr lang="en-US" sz="1600">
                <a:solidFill>
                  <a:srgbClr val="1A2E1A"/>
                </a:solidFill>
              </a:rPr>
              <a:t>- Login via portal tile; session in tutorhub_session</a:t>
            </a:r>
          </a:p>
        </p:txBody>
      </p:sp>
    </p:spTree>
    <p:extLst>
      <p:ext uri="{BB962C8B-B14F-4D97-AF65-F5344CB8AC3E}">
        <p14:creationId xmlns:p14="http://schemas.microsoft.com/office/powerpoint/2010/main" val="2587785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10CECF-3F23-8CE2-2287-1903B21FDCF4}"/>
              </a:ext>
            </a:extLst>
          </p:cNvPr>
          <p:cNvSpPr txBox="1"/>
          <p:nvPr/>
        </p:nvSpPr>
        <p:spPr>
          <a:xfrm>
            <a:off x="508000" y="355600"/>
            <a:ext cx="8128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000" b="1">
                <a:solidFill>
                  <a:srgbClr val="1B4332"/>
                </a:solidFill>
              </a:rPr>
              <a:t>Platform owner support 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5628EA-E5D6-CECF-2749-81FE6AB359BA}"/>
              </a:ext>
            </a:extLst>
          </p:cNvPr>
          <p:cNvSpPr txBox="1"/>
          <p:nvPr/>
        </p:nvSpPr>
        <p:spPr>
          <a:xfrm>
            <a:off x="508000" y="990600"/>
            <a:ext cx="8128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D4F3D"/>
                </a:solidFill>
              </a:rPr>
              <a:t>Center registration creates center + center admin user instantly.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25FACF-D971-FFFD-B4FB-17F8161708F4}"/>
              </a:ext>
            </a:extLst>
          </p:cNvPr>
          <p:cNvSpPr txBox="1"/>
          <p:nvPr/>
        </p:nvSpPr>
        <p:spPr>
          <a:xfrm>
            <a:off x="609600" y="1651000"/>
            <a:ext cx="8128000" cy="10772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1A2E1A"/>
                </a:solidFill>
              </a:rPr>
              <a:t>- All centers -&gt; open center -&gt; Support view</a:t>
            </a:r>
          </a:p>
          <a:p>
            <a:r>
              <a:rPr lang="en-US" sz="1600">
                <a:solidFill>
                  <a:srgbClr val="1A2E1A"/>
                </a:solidFill>
              </a:rPr>
              <a:t>- Nav switches to center-admin menus; data scoped to that center</a:t>
            </a:r>
          </a:p>
          <a:p>
            <a:r>
              <a:rPr lang="en-US" sz="1600">
                <a:solidFill>
                  <a:srgbClr val="1A2E1A"/>
                </a:solidFill>
              </a:rPr>
              <a:t>- Enter center workspace for full ops UI</a:t>
            </a:r>
          </a:p>
          <a:p>
            <a:r>
              <a:rPr lang="en-US" sz="1600">
                <a:solidFill>
                  <a:srgbClr val="1A2E1A"/>
                </a:solidFill>
              </a:rPr>
              <a:t>- Back to platform exits support view</a:t>
            </a:r>
          </a:p>
        </p:txBody>
      </p:sp>
    </p:spTree>
    <p:extLst>
      <p:ext uri="{BB962C8B-B14F-4D97-AF65-F5344CB8AC3E}">
        <p14:creationId xmlns:p14="http://schemas.microsoft.com/office/powerpoint/2010/main" val="1679121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2809CD-60F8-E2DD-41D0-D307E4A75F0F}"/>
              </a:ext>
            </a:extLst>
          </p:cNvPr>
          <p:cNvSpPr txBox="1"/>
          <p:nvPr/>
        </p:nvSpPr>
        <p:spPr>
          <a:xfrm>
            <a:off x="508000" y="355600"/>
            <a:ext cx="8128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000" b="1">
                <a:solidFill>
                  <a:srgbClr val="1B4332"/>
                </a:solidFill>
              </a:rPr>
              <a:t>4. Nine layers (1-5)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9B2AFC-99A0-90CE-CE20-CE9954B3FD63}"/>
              </a:ext>
            </a:extLst>
          </p:cNvPr>
          <p:cNvSpPr txBox="1"/>
          <p:nvPr/>
        </p:nvSpPr>
        <p:spPr>
          <a:xfrm>
            <a:off x="508000" y="990600"/>
            <a:ext cx="8128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D4F3D"/>
                </a:solidFill>
              </a:rPr>
              <a:t>Each layer maps to center admin sidebar; teachers/parents see subsets.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4F9B95-32D0-51E2-C47A-D17D3A8F65B6}"/>
              </a:ext>
            </a:extLst>
          </p:cNvPr>
          <p:cNvSpPr txBox="1"/>
          <p:nvPr/>
        </p:nvSpPr>
        <p:spPr>
          <a:xfrm>
            <a:off x="609600" y="1651000"/>
            <a:ext cx="8128000" cy="13234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1A2E1A"/>
                </a:solidFill>
              </a:rPr>
              <a:t>- Layer 1 Education CRM - public site, leads, pipeline, enrollment</a:t>
            </a:r>
          </a:p>
          <a:p>
            <a:r>
              <a:rPr lang="en-US" sz="1600">
                <a:solidFill>
                  <a:srgbClr val="1A2E1A"/>
                </a:solidFill>
              </a:rPr>
              <a:t>- Layer 2 Academy OS - batches, schedule, teachers, students, attendance, tests</a:t>
            </a:r>
          </a:p>
          <a:p>
            <a:r>
              <a:rPr lang="en-US" sz="1600">
                <a:solidFill>
                  <a:srgbClr val="1A2E1A"/>
                </a:solidFill>
              </a:rPr>
              <a:t>- Layer 3 Communication - WhatsApp, email, SMS, automations</a:t>
            </a:r>
          </a:p>
          <a:p>
            <a:r>
              <a:rPr lang="en-US" sz="1600">
                <a:solidFill>
                  <a:srgbClr val="1A2E1A"/>
                </a:solidFill>
              </a:rPr>
              <a:t>- Layer 4 Student Success - journeys, homework, interventions, certificates</a:t>
            </a:r>
          </a:p>
          <a:p>
            <a:r>
              <a:rPr lang="en-US" sz="1600">
                <a:solidFill>
                  <a:srgbClr val="1A2E1A"/>
                </a:solidFill>
              </a:rPr>
              <a:t>- Layer 5 Tutor Success - lesson plans, homework review, performance, PD</a:t>
            </a:r>
          </a:p>
        </p:txBody>
      </p:sp>
    </p:spTree>
    <p:extLst>
      <p:ext uri="{BB962C8B-B14F-4D97-AF65-F5344CB8AC3E}">
        <p14:creationId xmlns:p14="http://schemas.microsoft.com/office/powerpoint/2010/main" val="1078469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559CA2-D741-D793-1390-59E5E8844A20}"/>
              </a:ext>
            </a:extLst>
          </p:cNvPr>
          <p:cNvSpPr txBox="1"/>
          <p:nvPr/>
        </p:nvSpPr>
        <p:spPr>
          <a:xfrm>
            <a:off x="508000" y="355600"/>
            <a:ext cx="8128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000" b="1">
                <a:solidFill>
                  <a:srgbClr val="1B4332"/>
                </a:solidFill>
              </a:rPr>
              <a:t>4. Nine layers (6-9)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AE56A9-14F8-62CA-4C4A-A1EA91ACD22F}"/>
              </a:ext>
            </a:extLst>
          </p:cNvPr>
          <p:cNvSpPr txBox="1"/>
          <p:nvPr/>
        </p:nvSpPr>
        <p:spPr>
          <a:xfrm>
            <a:off x="609600" y="1651000"/>
            <a:ext cx="8128000" cy="10772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1A2E1A"/>
                </a:solidFill>
              </a:rPr>
              <a:t>- Layer 6 Parent Experience - dashboard, progress, messages, preferences</a:t>
            </a:r>
          </a:p>
          <a:p>
            <a:r>
              <a:rPr lang="en-US" sz="1600">
                <a:solidFill>
                  <a:srgbClr val="1A2E1A"/>
                </a:solidFill>
              </a:rPr>
              <a:t>- Layer 7 AI Assistants - rule-based or optional GPT insights</a:t>
            </a:r>
          </a:p>
          <a:p>
            <a:r>
              <a:rPr lang="en-US" sz="1600">
                <a:solidFill>
                  <a:srgbClr val="1A2E1A"/>
                </a:solidFill>
              </a:rPr>
              <a:t>- Layer 8 Business Intelligence - KPIs, trends, owner decisions</a:t>
            </a:r>
          </a:p>
          <a:p>
            <a:r>
              <a:rPr lang="en-US" sz="1600">
                <a:solidFill>
                  <a:srgbClr val="1A2E1A"/>
                </a:solidFill>
              </a:rPr>
              <a:t>- Layer 9 Extensions and Partners - Zoom, calendar, templates, partners</a:t>
            </a:r>
          </a:p>
        </p:txBody>
      </p:sp>
    </p:spTree>
    <p:extLst>
      <p:ext uri="{BB962C8B-B14F-4D97-AF65-F5344CB8AC3E}">
        <p14:creationId xmlns:p14="http://schemas.microsoft.com/office/powerpoint/2010/main" val="67068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9A1127-0810-C12B-A812-12A354824698}"/>
              </a:ext>
            </a:extLst>
          </p:cNvPr>
          <p:cNvSpPr txBox="1"/>
          <p:nvPr/>
        </p:nvSpPr>
        <p:spPr>
          <a:xfrm>
            <a:off x="508000" y="355600"/>
            <a:ext cx="8128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000" b="1">
                <a:solidFill>
                  <a:srgbClr val="1B4332"/>
                </a:solidFill>
              </a:rPr>
              <a:t>5.1 Workflow: Lead to student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CB9774-0946-463F-CB6B-E86A54B8E617}"/>
              </a:ext>
            </a:extLst>
          </p:cNvPr>
          <p:cNvSpPr txBox="1"/>
          <p:nvPr/>
        </p:nvSpPr>
        <p:spPr>
          <a:xfrm>
            <a:off x="609600" y="1651000"/>
            <a:ext cx="8128000" cy="15696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1A2E1A"/>
                </a:solidFill>
              </a:rPr>
              <a:t>- Sources: public website, walk-in, WhatsApp, ads -&gt; CRM lead</a:t>
            </a:r>
          </a:p>
          <a:p>
            <a:r>
              <a:rPr lang="en-US" sz="1600">
                <a:solidFill>
                  <a:srgbClr val="1A2E1A"/>
                </a:solidFill>
              </a:rPr>
              <a:t>- Pipeline: Lead &gt; Inquiry &gt; Demo &gt; Counseling &gt; Admission &gt; Payment &gt; Batch &gt; Student</a:t>
            </a:r>
          </a:p>
          <a:p>
            <a:r>
              <a:rPr lang="en-US" sz="1600">
                <a:solidFill>
                  <a:srgbClr val="1A2E1A"/>
                </a:solidFill>
              </a:rPr>
              <a:t>- Public Website form writes directly to CRM</a:t>
            </a:r>
          </a:p>
          <a:p>
            <a:r>
              <a:rPr lang="en-US" sz="1600">
                <a:solidFill>
                  <a:srgbClr val="1A2E1A"/>
                </a:solidFill>
              </a:rPr>
              <a:t>- CRM tabs: Pipeline, All leads, Follow-ups</a:t>
            </a:r>
          </a:p>
          <a:p>
            <a:r>
              <a:rPr lang="en-US" sz="1600">
                <a:solidFill>
                  <a:srgbClr val="1A2E1A"/>
                </a:solidFill>
              </a:rPr>
              <a:t>- Log activities, schedule demos, move stages, WhatsApp follow-up</a:t>
            </a:r>
          </a:p>
          <a:p>
            <a:r>
              <a:rPr lang="en-US" sz="1600">
                <a:solidFill>
                  <a:srgbClr val="1A2E1A"/>
                </a:solidFill>
              </a:rPr>
              <a:t>- Enroll converts lead to student (pick batch) -&gt; Layer 2 batch + schedule</a:t>
            </a:r>
          </a:p>
        </p:txBody>
      </p:sp>
    </p:spTree>
    <p:extLst>
      <p:ext uri="{BB962C8B-B14F-4D97-AF65-F5344CB8AC3E}">
        <p14:creationId xmlns:p14="http://schemas.microsoft.com/office/powerpoint/2010/main" val="17621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97F9F0-5834-7D25-D584-26F4B33AF6F7}"/>
              </a:ext>
            </a:extLst>
          </p:cNvPr>
          <p:cNvSpPr txBox="1"/>
          <p:nvPr/>
        </p:nvSpPr>
        <p:spPr>
          <a:xfrm>
            <a:off x="508000" y="355600"/>
            <a:ext cx="8128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000" b="1">
                <a:solidFill>
                  <a:srgbClr val="1B4332"/>
                </a:solidFill>
              </a:rPr>
              <a:t>5.2 Workflow: Daily academy ops (setup)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ADB5E0-9DFA-758A-7412-28B46ABAAE69}"/>
              </a:ext>
            </a:extLst>
          </p:cNvPr>
          <p:cNvSpPr txBox="1"/>
          <p:nvPr/>
        </p:nvSpPr>
        <p:spPr>
          <a:xfrm>
            <a:off x="508000" y="990600"/>
            <a:ext cx="8128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D4F3D"/>
                </a:solidFill>
              </a:rPr>
              <a:t>Setup once per batch/term.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D5DAD7-6759-D195-FB1D-4B1FDB526960}"/>
              </a:ext>
            </a:extLst>
          </p:cNvPr>
          <p:cNvSpPr txBox="1"/>
          <p:nvPr/>
        </p:nvSpPr>
        <p:spPr>
          <a:xfrm>
            <a:off x="609600" y="1651000"/>
            <a:ext cx="8128000" cy="13234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1A2E1A"/>
                </a:solidFill>
              </a:rPr>
              <a:t>- Add teachers</a:t>
            </a:r>
          </a:p>
          <a:p>
            <a:r>
              <a:rPr lang="en-US" sz="1600">
                <a:solidFill>
                  <a:srgbClr val="1A2E1A"/>
                </a:solidFill>
              </a:rPr>
              <a:t>- Create batches and assign teacher</a:t>
            </a:r>
          </a:p>
          <a:p>
            <a:r>
              <a:rPr lang="en-US" sz="1600">
                <a:solidFill>
                  <a:srgbClr val="1A2E1A"/>
                </a:solidFill>
              </a:rPr>
              <a:t>- Pick weekdays + start/end time</a:t>
            </a:r>
          </a:p>
          <a:p>
            <a:r>
              <a:rPr lang="en-US" sz="1600">
                <a:solidFill>
                  <a:srgbClr val="1A2E1A"/>
                </a:solidFill>
              </a:rPr>
              <a:t>- Enter topics (one topic = one class session)</a:t>
            </a:r>
          </a:p>
          <a:p>
            <a:r>
              <a:rPr lang="en-US" sz="1600">
                <a:solidFill>
                  <a:srgbClr val="1A2E1A"/>
                </a:solidFill>
              </a:rPr>
              <a:t>- Auto-generate schedule -&gt; dated sessions with Meet/Zoom/Teams links</a:t>
            </a:r>
          </a:p>
        </p:txBody>
      </p:sp>
    </p:spTree>
    <p:extLst>
      <p:ext uri="{BB962C8B-B14F-4D97-AF65-F5344CB8AC3E}">
        <p14:creationId xmlns:p14="http://schemas.microsoft.com/office/powerpoint/2010/main" val="3666584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43D913-D23C-9201-B170-94FC7B9BBCF6}"/>
              </a:ext>
            </a:extLst>
          </p:cNvPr>
          <p:cNvSpPr txBox="1"/>
          <p:nvPr/>
        </p:nvSpPr>
        <p:spPr>
          <a:xfrm>
            <a:off x="508000" y="355600"/>
            <a:ext cx="8128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000" b="1">
                <a:solidFill>
                  <a:srgbClr val="1B4332"/>
                </a:solidFill>
              </a:rPr>
              <a:t>5.2 Workflow: Daily academy ops (weekly)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9DAF00-5230-AC97-8A23-181BF8741370}"/>
              </a:ext>
            </a:extLst>
          </p:cNvPr>
          <p:cNvSpPr txBox="1"/>
          <p:nvPr/>
        </p:nvSpPr>
        <p:spPr>
          <a:xfrm>
            <a:off x="609600" y="1651000"/>
            <a:ext cx="8128000" cy="13234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1A2E1A"/>
                </a:solidFill>
              </a:rPr>
              <a:t>- Class schedule with meeting links</a:t>
            </a:r>
          </a:p>
          <a:p>
            <a:r>
              <a:rPr lang="en-US" sz="1600">
                <a:solidFill>
                  <a:srgbClr val="1A2E1A"/>
                </a:solidFill>
              </a:rPr>
              <a:t>- Mark attendance per batch/date (present, absent, late)</a:t>
            </a:r>
          </a:p>
          <a:p>
            <a:r>
              <a:rPr lang="en-US" sz="1600">
                <a:solidFill>
                  <a:srgbClr val="1A2E1A"/>
                </a:solidFill>
              </a:rPr>
              <a:t>- Optional parent WhatsApp on attendance</a:t>
            </a:r>
          </a:p>
          <a:p>
            <a:r>
              <a:rPr lang="en-US" sz="1600">
                <a:solidFill>
                  <a:srgbClr val="1A2E1A"/>
                </a:solidFill>
              </a:rPr>
              <a:t>- Record tests and marks -&gt; averages and reports</a:t>
            </a:r>
          </a:p>
          <a:p>
            <a:r>
              <a:rPr lang="en-US" sz="1600">
                <a:solidFill>
                  <a:srgbClr val="1A2E1A"/>
                </a:solidFill>
              </a:rPr>
              <a:t>- Mark done on completed classes</a:t>
            </a:r>
          </a:p>
        </p:txBody>
      </p:sp>
    </p:spTree>
    <p:extLst>
      <p:ext uri="{BB962C8B-B14F-4D97-AF65-F5344CB8AC3E}">
        <p14:creationId xmlns:p14="http://schemas.microsoft.com/office/powerpoint/2010/main" val="804948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3FE75B-C27F-CBCA-10AF-7F655897B0B4}"/>
              </a:ext>
            </a:extLst>
          </p:cNvPr>
          <p:cNvSpPr txBox="1"/>
          <p:nvPr/>
        </p:nvSpPr>
        <p:spPr>
          <a:xfrm>
            <a:off x="508000" y="355600"/>
            <a:ext cx="8128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000" b="1">
                <a:solidFill>
                  <a:srgbClr val="1B4332"/>
                </a:solidFill>
              </a:rPr>
              <a:t>5.3 Homework permissions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29B975-1C61-BDEC-1D0E-A913D0BBF2BF}"/>
              </a:ext>
            </a:extLst>
          </p:cNvPr>
          <p:cNvSpPr txBox="1"/>
          <p:nvPr/>
        </p:nvSpPr>
        <p:spPr>
          <a:xfrm>
            <a:off x="508000" y="1143000"/>
            <a:ext cx="3937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2D6A4F"/>
                </a:solidFill>
              </a:rPr>
              <a:t>Staff can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ABCD25-9F24-AE07-3A8A-FFA4F988CC37}"/>
              </a:ext>
            </a:extLst>
          </p:cNvPr>
          <p:cNvSpPr txBox="1"/>
          <p:nvPr/>
        </p:nvSpPr>
        <p:spPr>
          <a:xfrm>
            <a:off x="4699000" y="1143000"/>
            <a:ext cx="3937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2D6A4F"/>
                </a:solidFill>
              </a:rPr>
              <a:t>Family can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6EF831-BEB6-37F9-090F-B7221C70D276}"/>
              </a:ext>
            </a:extLst>
          </p:cNvPr>
          <p:cNvSpPr txBox="1"/>
          <p:nvPr/>
        </p:nvSpPr>
        <p:spPr>
          <a:xfrm>
            <a:off x="508000" y="1498600"/>
            <a:ext cx="3937000" cy="16004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1A2E1A"/>
                </a:solidFill>
              </a:rPr>
              <a:t>- Create assignment (center admin, teacher)</a:t>
            </a:r>
          </a:p>
          <a:p>
            <a:r>
              <a:rPr lang="en-US" sz="1400">
                <a:solidFill>
                  <a:srgbClr val="1A2E1A"/>
                </a:solidFill>
              </a:rPr>
              <a:t>- Issue certificate (center admin, teacher)</a:t>
            </a:r>
          </a:p>
          <a:p>
            <a:r>
              <a:rPr lang="en-US" sz="1400">
                <a:solidFill>
                  <a:srgbClr val="1A2E1A"/>
                </a:solidFill>
              </a:rPr>
              <a:t>- Add feedback (center admin, teacher)</a:t>
            </a:r>
          </a:p>
          <a:p>
            <a:r>
              <a:rPr lang="en-US" sz="1400">
                <a:solidFill>
                  <a:srgbClr val="1A2E1A"/>
                </a:solidFill>
              </a:rPr>
              <a:t>- Student Success: overview, journey, interventions</a:t>
            </a:r>
          </a:p>
          <a:p>
            <a:r>
              <a:rPr lang="en-US" sz="1400">
                <a:solidFill>
                  <a:srgbClr val="1A2E1A"/>
                </a:solidFill>
              </a:rPr>
              <a:t>- Tutor Success: lesson plans, homework review, PD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5331C3-A9E0-F946-2D78-D01C86AC3284}"/>
              </a:ext>
            </a:extLst>
          </p:cNvPr>
          <p:cNvSpPr txBox="1"/>
          <p:nvPr/>
        </p:nvSpPr>
        <p:spPr>
          <a:xfrm>
            <a:off x="4699000" y="1498600"/>
            <a:ext cx="3937000" cy="116955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1A2E1A"/>
                </a:solidFill>
              </a:rPr>
              <a:t>- Parent: view homework read-only, mark submitted</a:t>
            </a:r>
          </a:p>
          <a:p>
            <a:r>
              <a:rPr lang="en-US" sz="1400">
                <a:solidFill>
                  <a:srgbClr val="1A2E1A"/>
                </a:solidFill>
              </a:rPr>
              <a:t>- Student: submit homework</a:t>
            </a:r>
          </a:p>
          <a:p>
            <a:r>
              <a:rPr lang="en-US" sz="1400">
                <a:solidFill>
                  <a:srgbClr val="1A2E1A"/>
                </a:solidFill>
              </a:rPr>
              <a:t>- No admin toolbar on parent login</a:t>
            </a:r>
          </a:p>
          <a:p>
            <a:r>
              <a:rPr lang="en-US" sz="1400">
                <a:solidFill>
                  <a:srgbClr val="1A2E1A"/>
                </a:solidFill>
              </a:rPr>
              <a:t>- Homework nav shows read-only list for parents</a:t>
            </a:r>
          </a:p>
        </p:txBody>
      </p:sp>
    </p:spTree>
    <p:extLst>
      <p:ext uri="{BB962C8B-B14F-4D97-AF65-F5344CB8AC3E}">
        <p14:creationId xmlns:p14="http://schemas.microsoft.com/office/powerpoint/2010/main" val="1579255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01E3F6-AF8D-AB18-FE46-73DEDA4F4577}"/>
              </a:ext>
            </a:extLst>
          </p:cNvPr>
          <p:cNvSpPr txBox="1"/>
          <p:nvPr/>
        </p:nvSpPr>
        <p:spPr>
          <a:xfrm>
            <a:off x="508000" y="355600"/>
            <a:ext cx="8128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000" b="1">
                <a:solidFill>
                  <a:srgbClr val="1B4332"/>
                </a:solidFill>
              </a:rPr>
              <a:t>5.4 Communication (Layer 3)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8EC954-0A18-3802-FDBD-2CCC9C6176D7}"/>
              </a:ext>
            </a:extLst>
          </p:cNvPr>
          <p:cNvSpPr txBox="1"/>
          <p:nvPr/>
        </p:nvSpPr>
        <p:spPr>
          <a:xfrm>
            <a:off x="609600" y="1651000"/>
            <a:ext cx="8128000" cy="13234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1A2E1A"/>
                </a:solidFill>
              </a:rPr>
              <a:t>- Channels: WhatsApp, email, SMS, push (simulated in demo)</a:t>
            </a:r>
          </a:p>
          <a:p>
            <a:r>
              <a:rPr lang="en-US" sz="1600">
                <a:solidFill>
                  <a:srgbClr val="1A2E1A"/>
                </a:solidFill>
              </a:rPr>
              <a:t>- Templates and automations: absence, test results, homework due, reminders</a:t>
            </a:r>
          </a:p>
          <a:p>
            <a:r>
              <a:rPr lang="en-US" sz="1600">
                <a:solidFill>
                  <a:srgbClr val="1A2E1A"/>
                </a:solidFill>
              </a:rPr>
              <a:t>- Comm Hub: broadcasts, settings, message log</a:t>
            </a:r>
          </a:p>
          <a:p>
            <a:r>
              <a:rPr lang="en-US" sz="1600">
                <a:solidFill>
                  <a:srgbClr val="1A2E1A"/>
                </a:solidFill>
              </a:rPr>
              <a:t>- Quick Message in top bar jumps to comm hub</a:t>
            </a:r>
          </a:p>
          <a:p>
            <a:r>
              <a:rPr lang="en-US" sz="1600">
                <a:solidFill>
                  <a:srgbClr val="1A2E1A"/>
                </a:solidFill>
              </a:rPr>
              <a:t>- WhatsApp: simulate mode or live Meta API via Settings</a:t>
            </a:r>
          </a:p>
        </p:txBody>
      </p:sp>
    </p:spTree>
    <p:extLst>
      <p:ext uri="{BB962C8B-B14F-4D97-AF65-F5344CB8AC3E}">
        <p14:creationId xmlns:p14="http://schemas.microsoft.com/office/powerpoint/2010/main" val="37761095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EECCD-4ADA-2477-F0A2-8C58CFA2EFFE}"/>
              </a:ext>
            </a:extLst>
          </p:cNvPr>
          <p:cNvSpPr txBox="1"/>
          <p:nvPr/>
        </p:nvSpPr>
        <p:spPr>
          <a:xfrm>
            <a:off x="508000" y="355600"/>
            <a:ext cx="8128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000" b="1">
                <a:solidFill>
                  <a:srgbClr val="1B4332"/>
                </a:solidFill>
              </a:rPr>
              <a:t>5.5 Parent experience (Layer 6)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1F59EE-F2B9-9419-413F-255551207C0E}"/>
              </a:ext>
            </a:extLst>
          </p:cNvPr>
          <p:cNvSpPr txBox="1"/>
          <p:nvPr/>
        </p:nvSpPr>
        <p:spPr>
          <a:xfrm>
            <a:off x="609600" y="1651000"/>
            <a:ext cx="8128000" cy="18158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1A2E1A"/>
                </a:solidFill>
              </a:rPr>
              <a:t>- Home: success score, next class, activity, contact teacher</a:t>
            </a:r>
          </a:p>
          <a:p>
            <a:r>
              <a:rPr lang="en-US" sz="1600">
                <a:solidFill>
                  <a:srgbClr val="1A2E1A"/>
                </a:solidFill>
              </a:rPr>
              <a:t>- Progress: strengths, skills, test history</a:t>
            </a:r>
          </a:p>
          <a:p>
            <a:r>
              <a:rPr lang="en-US" sz="1600">
                <a:solidFill>
                  <a:srgbClr val="1A2E1A"/>
                </a:solidFill>
              </a:rPr>
              <a:t>- Homework: assignments and status</a:t>
            </a:r>
          </a:p>
          <a:p>
            <a:r>
              <a:rPr lang="en-US" sz="1600">
                <a:solidFill>
                  <a:srgbClr val="1A2E1A"/>
                </a:solidFill>
              </a:rPr>
              <a:t>- Attendance: history and rate</a:t>
            </a:r>
          </a:p>
          <a:p>
            <a:r>
              <a:rPr lang="en-US" sz="1600">
                <a:solidFill>
                  <a:srgbClr val="1A2E1A"/>
                </a:solidFill>
              </a:rPr>
              <a:t>- Feedback: teacher notes | Messages: center thread</a:t>
            </a:r>
          </a:p>
          <a:p>
            <a:r>
              <a:rPr lang="en-US" sz="1600">
                <a:solidFill>
                  <a:srgbClr val="1A2E1A"/>
                </a:solidFill>
              </a:rPr>
              <a:t>- Settings: notification preferences</a:t>
            </a:r>
          </a:p>
          <a:p>
            <a:r>
              <a:rPr lang="en-US" sz="1600">
                <a:solidFill>
                  <a:srgbClr val="1A2E1A"/>
                </a:solidFill>
              </a:rPr>
              <a:t>- Request progress summary; mark homework submitted (not grading)</a:t>
            </a:r>
          </a:p>
        </p:txBody>
      </p:sp>
    </p:spTree>
    <p:extLst>
      <p:ext uri="{BB962C8B-B14F-4D97-AF65-F5344CB8AC3E}">
        <p14:creationId xmlns:p14="http://schemas.microsoft.com/office/powerpoint/2010/main" val="723154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0637FC-9028-B812-D21B-3DB120F0DF1F}"/>
              </a:ext>
            </a:extLst>
          </p:cNvPr>
          <p:cNvSpPr txBox="1"/>
          <p:nvPr/>
        </p:nvSpPr>
        <p:spPr>
          <a:xfrm>
            <a:off x="508000" y="355600"/>
            <a:ext cx="8128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000" b="1">
                <a:solidFill>
                  <a:srgbClr val="1B4332"/>
                </a:solidFill>
              </a:rPr>
              <a:t>5.6 Intelligence and AI (Layers 7-8)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2140DE-938F-2A08-8607-FFD5E14F2BAA}"/>
              </a:ext>
            </a:extLst>
          </p:cNvPr>
          <p:cNvSpPr txBox="1"/>
          <p:nvPr/>
        </p:nvSpPr>
        <p:spPr>
          <a:xfrm>
            <a:off x="609600" y="1651000"/>
            <a:ext cx="8128000" cy="15696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1A2E1A"/>
                </a:solidFill>
              </a:rPr>
              <a:t>- BI: decisions feed - at-risk students, follow-ups, capacity</a:t>
            </a:r>
          </a:p>
          <a:p>
            <a:r>
              <a:rPr lang="en-US" sz="1600">
                <a:solidFill>
                  <a:srgbClr val="1A2E1A"/>
                </a:solidFill>
              </a:rPr>
              <a:t>- KPIs, trends, predictions, lead analytics</a:t>
            </a:r>
          </a:p>
          <a:p>
            <a:r>
              <a:rPr lang="en-US" sz="1600">
                <a:solidFill>
                  <a:srgbClr val="1A2E1A"/>
                </a:solidFill>
              </a:rPr>
              <a:t>- Action-oriented cards - not static reports only</a:t>
            </a:r>
          </a:p>
          <a:p>
            <a:r>
              <a:rPr lang="en-US" sz="1600">
                <a:solidFill>
                  <a:srgbClr val="1A2E1A"/>
                </a:solidFill>
              </a:rPr>
              <a:t>- AI: role-aware chat (owner, tutor, parent, student)</a:t>
            </a:r>
          </a:p>
          <a:p>
            <a:r>
              <a:rPr lang="en-US" sz="1600">
                <a:solidFill>
                  <a:srgbClr val="1A2E1A"/>
                </a:solidFill>
              </a:rPr>
              <a:t>- Rule-based default; optional OpenAI key in Settings</a:t>
            </a:r>
          </a:p>
          <a:p>
            <a:r>
              <a:rPr lang="en-US" sz="1600">
                <a:solidFill>
                  <a:srgbClr val="1A2E1A"/>
                </a:solidFill>
              </a:rPr>
              <a:t>- Drafts parent messages from attendance/test data</a:t>
            </a:r>
          </a:p>
        </p:txBody>
      </p:sp>
    </p:spTree>
    <p:extLst>
      <p:ext uri="{BB962C8B-B14F-4D97-AF65-F5344CB8AC3E}">
        <p14:creationId xmlns:p14="http://schemas.microsoft.com/office/powerpoint/2010/main" val="28891952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26231B-97AC-7A03-BFED-F56786526EB6}"/>
              </a:ext>
            </a:extLst>
          </p:cNvPr>
          <p:cNvSpPr txBox="1"/>
          <p:nvPr/>
        </p:nvSpPr>
        <p:spPr>
          <a:xfrm>
            <a:off x="508000" y="355600"/>
            <a:ext cx="8128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000" b="1">
                <a:solidFill>
                  <a:srgbClr val="1B4332"/>
                </a:solidFill>
              </a:rPr>
              <a:t>5.7 Extensions (Layer 9)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C64544-F7AD-69B3-EC7B-407E3FE6958B}"/>
              </a:ext>
            </a:extLst>
          </p:cNvPr>
          <p:cNvSpPr txBox="1"/>
          <p:nvPr/>
        </p:nvSpPr>
        <p:spPr>
          <a:xfrm>
            <a:off x="609600" y="1651000"/>
            <a:ext cx="8128000" cy="13234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1A2E1A"/>
                </a:solidFill>
              </a:rPr>
              <a:t>- Not a content marketplace</a:t>
            </a:r>
          </a:p>
          <a:p>
            <a:r>
              <a:rPr lang="en-US" sz="1600">
                <a:solidFill>
                  <a:srgbClr val="1A2E1A"/>
                </a:solidFill>
              </a:rPr>
              <a:t>- Connections: Zoom, Google Calendar, Twilio, etc.</a:t>
            </a:r>
          </a:p>
          <a:p>
            <a:r>
              <a:rPr lang="en-US" sz="1600">
                <a:solidFill>
                  <a:srgbClr val="1A2E1A"/>
                </a:solidFill>
              </a:rPr>
              <a:t>- Templates: ops message templates</a:t>
            </a:r>
          </a:p>
          <a:p>
            <a:r>
              <a:rPr lang="en-US" sz="1600">
                <a:solidFill>
                  <a:srgbClr val="1A2E1A"/>
                </a:solidFill>
              </a:rPr>
              <a:t>- Partners: partner service catalog</a:t>
            </a:r>
          </a:p>
          <a:p>
            <a:r>
              <a:rPr lang="en-US" sz="1600">
                <a:solidFill>
                  <a:srgbClr val="1A2E1A"/>
                </a:solidFill>
              </a:rPr>
              <a:t>- Teaching content stays on external platforms</a:t>
            </a:r>
          </a:p>
        </p:txBody>
      </p:sp>
    </p:spTree>
    <p:extLst>
      <p:ext uri="{BB962C8B-B14F-4D97-AF65-F5344CB8AC3E}">
        <p14:creationId xmlns:p14="http://schemas.microsoft.com/office/powerpoint/2010/main" val="23526220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8CDF56-B875-8E10-02CB-D7088299003F}"/>
              </a:ext>
            </a:extLst>
          </p:cNvPr>
          <p:cNvSpPr txBox="1"/>
          <p:nvPr/>
        </p:nvSpPr>
        <p:spPr>
          <a:xfrm>
            <a:off x="508000" y="355600"/>
            <a:ext cx="8128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000" b="1">
                <a:solidFill>
                  <a:srgbClr val="1B4332"/>
                </a:solidFill>
              </a:rPr>
              <a:t>6. End-to-end journey (new center)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A75B90-5B99-B1F7-89F9-1FD19721F51E}"/>
              </a:ext>
            </a:extLst>
          </p:cNvPr>
          <p:cNvSpPr txBox="1"/>
          <p:nvPr/>
        </p:nvSpPr>
        <p:spPr>
          <a:xfrm>
            <a:off x="609600" y="1651000"/>
            <a:ext cx="8128000" cy="230832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1A2E1A"/>
                </a:solidFill>
              </a:rPr>
              <a:t>- Platform owner registers center on platform</a:t>
            </a:r>
          </a:p>
          <a:p>
            <a:r>
              <a:rPr lang="en-US" sz="1600">
                <a:solidFill>
                  <a:srgbClr val="1A2E1A"/>
                </a:solidFill>
              </a:rPr>
              <a:t>- Center admin logs in, configures Settings</a:t>
            </a:r>
          </a:p>
          <a:p>
            <a:r>
              <a:rPr lang="en-US" sz="1600">
                <a:solidFill>
                  <a:srgbClr val="1A2E1A"/>
                </a:solidFill>
              </a:rPr>
              <a:t>- Public site + CRM go live</a:t>
            </a:r>
          </a:p>
          <a:p>
            <a:r>
              <a:rPr lang="en-US" sz="1600">
                <a:solidFill>
                  <a:srgbClr val="1A2E1A"/>
                </a:solidFill>
              </a:rPr>
              <a:t>- Create batches, auto-generate schedule</a:t>
            </a:r>
          </a:p>
          <a:p>
            <a:r>
              <a:rPr lang="en-US" sz="1600">
                <a:solidFill>
                  <a:srgbClr val="1A2E1A"/>
                </a:solidFill>
              </a:rPr>
              <a:t>- Teacher accounts linked to roster</a:t>
            </a:r>
          </a:p>
          <a:p>
            <a:r>
              <a:rPr lang="en-US" sz="1600">
                <a:solidFill>
                  <a:srgbClr val="1A2E1A"/>
                </a:solidFill>
              </a:rPr>
              <a:t>- Leads convert to students</a:t>
            </a:r>
          </a:p>
          <a:p>
            <a:r>
              <a:rPr lang="en-US" sz="1600">
                <a:solidFill>
                  <a:srgbClr val="1A2E1A"/>
                </a:solidFill>
              </a:rPr>
              <a:t>- Teachers mark attendance, assign homework</a:t>
            </a:r>
          </a:p>
          <a:p>
            <a:r>
              <a:rPr lang="en-US" sz="1600">
                <a:solidFill>
                  <a:srgbClr val="1A2E1A"/>
                </a:solidFill>
              </a:rPr>
              <a:t>- Automations notify parents; parent portal active</a:t>
            </a:r>
          </a:p>
          <a:p>
            <a:r>
              <a:rPr lang="en-US" sz="1600">
                <a:solidFill>
                  <a:srgbClr val="1A2E1A"/>
                </a:solidFill>
              </a:rPr>
              <a:t>- Owner uses BI decisions and reports</a:t>
            </a:r>
          </a:p>
        </p:txBody>
      </p:sp>
    </p:spTree>
    <p:extLst>
      <p:ext uri="{BB962C8B-B14F-4D97-AF65-F5344CB8AC3E}">
        <p14:creationId xmlns:p14="http://schemas.microsoft.com/office/powerpoint/2010/main" val="30988818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FBCD43-EC2F-A215-FF09-A215DA9F5E7D}"/>
              </a:ext>
            </a:extLst>
          </p:cNvPr>
          <p:cNvSpPr txBox="1"/>
          <p:nvPr/>
        </p:nvSpPr>
        <p:spPr>
          <a:xfrm>
            <a:off x="508000" y="355600"/>
            <a:ext cx="8128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000" b="1">
                <a:solidFill>
                  <a:srgbClr val="1B4332"/>
                </a:solidFill>
              </a:rPr>
              <a:t>7. Technical 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4FCEB7-3840-031B-EB19-69038330E51E}"/>
              </a:ext>
            </a:extLst>
          </p:cNvPr>
          <p:cNvSpPr txBox="1"/>
          <p:nvPr/>
        </p:nvSpPr>
        <p:spPr>
          <a:xfrm>
            <a:off x="508000" y="990600"/>
            <a:ext cx="8128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D4F3D"/>
                </a:solidFill>
              </a:rPr>
              <a:t>Vanilla HTML/CSS/JS - no build step.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75C049-9AA1-8582-0441-ED66813600A2}"/>
              </a:ext>
            </a:extLst>
          </p:cNvPr>
          <p:cNvSpPr txBox="1"/>
          <p:nvPr/>
        </p:nvSpPr>
        <p:spPr>
          <a:xfrm>
            <a:off x="609600" y="1524000"/>
            <a:ext cx="8128000" cy="18158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1A2E1A"/>
                </a:solidFill>
              </a:rPr>
              <a:t>- index.html + js/app.js (auth gate, nav, modals)</a:t>
            </a:r>
          </a:p>
          <a:p>
            <a:r>
              <a:rPr lang="en-US" sz="1600">
                <a:solidFill>
                  <a:srgbClr val="1A2E1A"/>
                </a:solidFill>
              </a:rPr>
              <a:t>- auth.js / auth-views.js - login, register, support view</a:t>
            </a:r>
          </a:p>
          <a:p>
            <a:r>
              <a:rPr lang="en-US" sz="1600">
                <a:solidFill>
                  <a:srgbClr val="1A2E1A"/>
                </a:solidFill>
              </a:rPr>
              <a:t>- portals.js - role nav and access control</a:t>
            </a:r>
          </a:p>
          <a:p>
            <a:r>
              <a:rPr lang="en-US" sz="1600">
                <a:solidFill>
                  <a:srgbClr val="1A2E1A"/>
                </a:solidFill>
              </a:rPr>
              <a:t>- store.js - localStorage v5, multi-tenant data</a:t>
            </a:r>
          </a:p>
          <a:p>
            <a:r>
              <a:rPr lang="en-US" sz="1600">
                <a:solidFill>
                  <a:srgbClr val="1A2E1A"/>
                </a:solidFill>
              </a:rPr>
              <a:t>- views.js - dashboard, CRM shell, academy pages</a:t>
            </a:r>
          </a:p>
          <a:p>
            <a:r>
              <a:rPr lang="en-US" sz="1600">
                <a:solidFill>
                  <a:srgbClr val="1A2E1A"/>
                </a:solidFill>
              </a:rPr>
              <a:t>- layer-views.js - layers 3-9 + public site</a:t>
            </a:r>
          </a:p>
          <a:p>
            <a:r>
              <a:rPr lang="en-US" sz="1600">
                <a:solidFill>
                  <a:srgbClr val="1A2E1A"/>
                </a:solidFill>
              </a:rPr>
              <a:t>- platform.js, communication.js, intelligence.js, ai.js</a:t>
            </a:r>
          </a:p>
        </p:txBody>
      </p:sp>
    </p:spTree>
    <p:extLst>
      <p:ext uri="{BB962C8B-B14F-4D97-AF65-F5344CB8AC3E}">
        <p14:creationId xmlns:p14="http://schemas.microsoft.com/office/powerpoint/2010/main" val="11500562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98A705-335F-A713-A532-410B11A046AD}"/>
              </a:ext>
            </a:extLst>
          </p:cNvPr>
          <p:cNvSpPr txBox="1"/>
          <p:nvPr/>
        </p:nvSpPr>
        <p:spPr>
          <a:xfrm>
            <a:off x="508000" y="355600"/>
            <a:ext cx="8128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000" b="1">
                <a:solidFill>
                  <a:srgbClr val="1B4332"/>
                </a:solidFill>
              </a:rPr>
              <a:t>7. Data model (high level)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0D962A-B0E0-6F71-8789-1F72B3B60677}"/>
              </a:ext>
            </a:extLst>
          </p:cNvPr>
          <p:cNvSpPr txBox="1"/>
          <p:nvPr/>
        </p:nvSpPr>
        <p:spPr>
          <a:xfrm>
            <a:off x="609600" y="1651000"/>
            <a:ext cx="8128000" cy="18158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1A2E1A"/>
                </a:solidFill>
              </a:rPr>
              <a:t>- centers[] - tenant root (platform scope)</a:t>
            </a:r>
          </a:p>
          <a:p>
            <a:r>
              <a:rPr lang="en-US" sz="1600">
                <a:solidFill>
                  <a:srgbClr val="1A2E1A"/>
                </a:solidFill>
              </a:rPr>
              <a:t>- users[] - roles, linked teacher/student IDs</a:t>
            </a:r>
          </a:p>
          <a:p>
            <a:r>
              <a:rPr lang="en-US" sz="1600">
                <a:solidFill>
                  <a:srgbClr val="1A2E1A"/>
                </a:solidFill>
              </a:rPr>
              <a:t>- centerSettings{} - per-center Settings</a:t>
            </a:r>
          </a:p>
          <a:p>
            <a:r>
              <a:rPr lang="en-US" sz="1600">
                <a:solidFill>
                  <a:srgbClr val="1A2E1A"/>
                </a:solidFill>
              </a:rPr>
              <a:t>- batches, students, teachers, leads - centerId scoped</a:t>
            </a:r>
          </a:p>
          <a:p>
            <a:r>
              <a:rPr lang="en-US" sz="1600">
                <a:solidFill>
                  <a:srgbClr val="1A2E1A"/>
                </a:solidFill>
              </a:rPr>
              <a:t>- attendance, tests, messages - centerId scoped</a:t>
            </a:r>
          </a:p>
          <a:p>
            <a:r>
              <a:rPr lang="en-US" sz="1600">
                <a:solidFill>
                  <a:srgbClr val="1A2E1A"/>
                </a:solidFill>
              </a:rPr>
              <a:t>- Platform extensions: assignments, marketplace, etc.</a:t>
            </a:r>
          </a:p>
          <a:p>
            <a:r>
              <a:rPr lang="en-US" sz="1600">
                <a:solidFill>
                  <a:srgbClr val="1A2E1A"/>
                </a:solidFill>
              </a:rPr>
              <a:t>- Keys: tutorhub_session | tutorhub_data_v5</a:t>
            </a:r>
          </a:p>
        </p:txBody>
      </p:sp>
    </p:spTree>
    <p:extLst>
      <p:ext uri="{BB962C8B-B14F-4D97-AF65-F5344CB8AC3E}">
        <p14:creationId xmlns:p14="http://schemas.microsoft.com/office/powerpoint/2010/main" val="17690612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55A472-3303-34BB-DA53-5F0C965438D1}"/>
              </a:ext>
            </a:extLst>
          </p:cNvPr>
          <p:cNvSpPr txBox="1"/>
          <p:nvPr/>
        </p:nvSpPr>
        <p:spPr>
          <a:xfrm>
            <a:off x="508000" y="355600"/>
            <a:ext cx="8128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000" b="1">
                <a:solidFill>
                  <a:srgbClr val="1B4332"/>
                </a:solidFill>
              </a:rPr>
              <a:t>8. Demo accounts (password: demo123)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80BA22-5AB8-83F1-3A9F-D9D5D79B157D}"/>
              </a:ext>
            </a:extLst>
          </p:cNvPr>
          <p:cNvSpPr txBox="1"/>
          <p:nvPr/>
        </p:nvSpPr>
        <p:spPr>
          <a:xfrm>
            <a:off x="508000" y="990600"/>
            <a:ext cx="8128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D4F3D"/>
                </a:solidFill>
              </a:rPr>
              <a:t>Run start.bat then http://127.0.0.1:8888 - not file:// index.html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E0F2EC-64D3-6E1A-A620-DD9F844904DB}"/>
              </a:ext>
            </a:extLst>
          </p:cNvPr>
          <p:cNvSpPr txBox="1"/>
          <p:nvPr/>
        </p:nvSpPr>
        <p:spPr>
          <a:xfrm>
            <a:off x="609600" y="1651000"/>
            <a:ext cx="8128000" cy="18158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1A2E1A"/>
                </a:solidFill>
              </a:rPr>
              <a:t>- Platform owner: owner@eduos.app</a:t>
            </a:r>
          </a:p>
          <a:p>
            <a:r>
              <a:rPr lang="en-US" sz="1600">
                <a:solidFill>
                  <a:srgbClr val="1A2E1A"/>
                </a:solidFill>
              </a:rPr>
              <a:t>- Center admin: admin@brightminds.demo</a:t>
            </a:r>
          </a:p>
          <a:p>
            <a:r>
              <a:rPr lang="en-US" sz="1600">
                <a:solidFill>
                  <a:srgbClr val="1A2E1A"/>
                </a:solidFill>
              </a:rPr>
              <a:t>- Teacher: anita@tutorhub.com or vikram@tutorhub.com</a:t>
            </a:r>
          </a:p>
          <a:p>
            <a:r>
              <a:rPr lang="en-US" sz="1600">
                <a:solidFill>
                  <a:srgbClr val="1A2E1A"/>
                </a:solidFill>
              </a:rPr>
              <a:t>- Student: aarav@email.com</a:t>
            </a:r>
          </a:p>
          <a:p>
            <a:r>
              <a:rPr lang="en-US" sz="1600">
                <a:solidFill>
                  <a:srgbClr val="1A2E1A"/>
                </a:solidFill>
              </a:rPr>
              <a:t>- Parent: rajesh@email.com</a:t>
            </a:r>
          </a:p>
          <a:p>
            <a:r>
              <a:rPr lang="en-US" sz="1600">
                <a:solidFill>
                  <a:srgbClr val="1A2E1A"/>
                </a:solidFill>
              </a:rPr>
              <a:t>- Centers: Bright Minds Academy (full) | Excel Tutors Pune (empty)</a:t>
            </a:r>
          </a:p>
          <a:p>
            <a:r>
              <a:rPr lang="en-US" sz="1600">
                <a:solidFill>
                  <a:srgbClr val="1A2E1A"/>
                </a:solidFill>
              </a:rPr>
              <a:t>- Reset: Settings &gt; Reset Demo Data</a:t>
            </a:r>
          </a:p>
        </p:txBody>
      </p:sp>
    </p:spTree>
    <p:extLst>
      <p:ext uri="{BB962C8B-B14F-4D97-AF65-F5344CB8AC3E}">
        <p14:creationId xmlns:p14="http://schemas.microsoft.com/office/powerpoint/2010/main" val="32756838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54EF01-2AC8-49A3-8F47-3FE3DC7571CE}"/>
              </a:ext>
            </a:extLst>
          </p:cNvPr>
          <p:cNvSpPr txBox="1"/>
          <p:nvPr/>
        </p:nvSpPr>
        <p:spPr>
          <a:xfrm>
            <a:off x="508000" y="355600"/>
            <a:ext cx="8128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000" b="1">
                <a:solidFill>
                  <a:srgbClr val="1B4332"/>
                </a:solidFill>
              </a:rPr>
              <a:t>9. Permission summary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3EAC8B-6423-9FD0-6E31-19BDA1D31CB4}"/>
              </a:ext>
            </a:extLst>
          </p:cNvPr>
          <p:cNvSpPr txBox="1"/>
          <p:nvPr/>
        </p:nvSpPr>
        <p:spPr>
          <a:xfrm>
            <a:off x="609600" y="1651000"/>
            <a:ext cx="8128000" cy="15696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1A2E1A"/>
                </a:solidFill>
              </a:rPr>
              <a:t>- Platform owner -&gt; all centers + support view into one center</a:t>
            </a:r>
          </a:p>
          <a:p>
            <a:r>
              <a:rPr lang="en-US" sz="1600">
                <a:solidFill>
                  <a:srgbClr val="1A2E1A"/>
                </a:solidFill>
              </a:rPr>
              <a:t>- Center admin -&gt; all layers in center workspace</a:t>
            </a:r>
          </a:p>
          <a:p>
            <a:r>
              <a:rPr lang="en-US" sz="1600">
                <a:solidFill>
                  <a:srgbClr val="1A2E1A"/>
                </a:solidFill>
              </a:rPr>
              <a:t>- Teacher -&gt; scoped batches, students, homework tools</a:t>
            </a:r>
          </a:p>
          <a:p>
            <a:r>
              <a:rPr lang="en-US" sz="1600">
                <a:solidFill>
                  <a:srgbClr val="1A2E1A"/>
                </a:solidFill>
              </a:rPr>
              <a:t>- Student -&gt; schedule + homework submit</a:t>
            </a:r>
          </a:p>
          <a:p>
            <a:r>
              <a:rPr lang="en-US" sz="1600">
                <a:solidFill>
                  <a:srgbClr val="1A2E1A"/>
                </a:solidFill>
              </a:rPr>
              <a:t>- Parent -&gt; view + message + mark homework submitted</a:t>
            </a:r>
          </a:p>
          <a:p>
            <a:r>
              <a:rPr lang="en-US" sz="1600">
                <a:solidFill>
                  <a:srgbClr val="1A2E1A"/>
                </a:solidFill>
              </a:rPr>
              <a:t>- Staff manage; family consume</a:t>
            </a:r>
          </a:p>
        </p:txBody>
      </p:sp>
    </p:spTree>
    <p:extLst>
      <p:ext uri="{BB962C8B-B14F-4D97-AF65-F5344CB8AC3E}">
        <p14:creationId xmlns:p14="http://schemas.microsoft.com/office/powerpoint/2010/main" val="31751154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6A0D7E-2183-A4CE-28A3-8D40BCACFA8B}"/>
              </a:ext>
            </a:extLst>
          </p:cNvPr>
          <p:cNvSpPr txBox="1"/>
          <p:nvPr/>
        </p:nvSpPr>
        <p:spPr>
          <a:xfrm>
            <a:off x="508000" y="355600"/>
            <a:ext cx="8128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000" b="1">
                <a:solidFill>
                  <a:srgbClr val="1B4332"/>
                </a:solidFill>
              </a:rPr>
              <a:t>10. Out of scope (current MVP)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5644DB-D571-9D0D-9668-4672E846FC02}"/>
              </a:ext>
            </a:extLst>
          </p:cNvPr>
          <p:cNvSpPr txBox="1"/>
          <p:nvPr/>
        </p:nvSpPr>
        <p:spPr>
          <a:xfrm>
            <a:off x="609600" y="1651000"/>
            <a:ext cx="8128000" cy="13234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1A2E1A"/>
                </a:solidFill>
              </a:rPr>
              <a:t>- Payment collection and invoicing</a:t>
            </a:r>
          </a:p>
          <a:p>
            <a:r>
              <a:rPr lang="en-US" sz="1600">
                <a:solidFill>
                  <a:srgbClr val="1A2E1A"/>
                </a:solidFill>
              </a:rPr>
              <a:t>- Hosting course videos or worksheet libraries</a:t>
            </a:r>
          </a:p>
          <a:p>
            <a:r>
              <a:rPr lang="en-US" sz="1600">
                <a:solidFill>
                  <a:srgbClr val="1A2E1A"/>
                </a:solidFill>
              </a:rPr>
              <a:t>- Production backend / real multi-user sync</a:t>
            </a:r>
          </a:p>
          <a:p>
            <a:r>
              <a:rPr lang="en-US" sz="1600">
                <a:solidFill>
                  <a:srgbClr val="1A2E1A"/>
                </a:solidFill>
              </a:rPr>
              <a:t>- Native mobile apps (responsive web only)</a:t>
            </a:r>
          </a:p>
          <a:p>
            <a:r>
              <a:rPr lang="en-US" sz="1600">
                <a:solidFill>
                  <a:srgbClr val="1A2E1A"/>
                </a:solidFill>
              </a:rPr>
              <a:t>- Full API enforcement (keys and webhooks are demo UI)</a:t>
            </a:r>
          </a:p>
        </p:txBody>
      </p:sp>
    </p:spTree>
    <p:extLst>
      <p:ext uri="{BB962C8B-B14F-4D97-AF65-F5344CB8AC3E}">
        <p14:creationId xmlns:p14="http://schemas.microsoft.com/office/powerpoint/2010/main" val="21925341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BAED20-0FCD-4F3D-708B-BA94F99220C7}"/>
              </a:ext>
            </a:extLst>
          </p:cNvPr>
          <p:cNvSpPr txBox="1"/>
          <p:nvPr/>
        </p:nvSpPr>
        <p:spPr>
          <a:xfrm>
            <a:off x="508000" y="355600"/>
            <a:ext cx="8128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000" b="1">
                <a:solidFill>
                  <a:srgbClr val="1B4332"/>
                </a:solidFill>
              </a:rPr>
              <a:t>11. Suggested reading order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132867-46D4-2DB2-D3B5-1F4B6240D53C}"/>
              </a:ext>
            </a:extLst>
          </p:cNvPr>
          <p:cNvSpPr txBox="1"/>
          <p:nvPr/>
        </p:nvSpPr>
        <p:spPr>
          <a:xfrm>
            <a:off x="609600" y="1651000"/>
            <a:ext cx="8128000" cy="18158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1A2E1A"/>
                </a:solidFill>
              </a:rPr>
              <a:t>- 1 Center admin: Dashboard -&gt; command center</a:t>
            </a:r>
          </a:p>
          <a:p>
            <a:r>
              <a:rPr lang="en-US" sz="1600">
                <a:solidFill>
                  <a:srgbClr val="1A2E1A"/>
                </a:solidFill>
              </a:rPr>
              <a:t>- 2 CRM: follow one lead to enrollment</a:t>
            </a:r>
          </a:p>
          <a:p>
            <a:r>
              <a:rPr lang="en-US" sz="1600">
                <a:solidFill>
                  <a:srgbClr val="1A2E1A"/>
                </a:solidFill>
              </a:rPr>
              <a:t>- 3 Batches: auto-schedule -&gt; Class Schedule</a:t>
            </a:r>
          </a:p>
          <a:p>
            <a:r>
              <a:rPr lang="en-US" sz="1600">
                <a:solidFill>
                  <a:srgbClr val="1A2E1A"/>
                </a:solidFill>
              </a:rPr>
              <a:t>- 4 Attendance + Tests -&gt; Communication Hub</a:t>
            </a:r>
          </a:p>
          <a:p>
            <a:r>
              <a:rPr lang="en-US" sz="1600">
                <a:solidFill>
                  <a:srgbClr val="1A2E1A"/>
                </a:solidFill>
              </a:rPr>
              <a:t>- 5 Teacher: Today -&gt; attendance -&gt; homework</a:t>
            </a:r>
          </a:p>
          <a:p>
            <a:r>
              <a:rPr lang="en-US" sz="1600">
                <a:solidFill>
                  <a:srgbClr val="1A2E1A"/>
                </a:solidFill>
              </a:rPr>
              <a:t>- 6 Parent: dashboard -&gt; homework (read-only)</a:t>
            </a:r>
          </a:p>
          <a:p>
            <a:r>
              <a:rPr lang="en-US" sz="1600">
                <a:solidFill>
                  <a:srgbClr val="1A2E1A"/>
                </a:solidFill>
              </a:rPr>
              <a:t>- 7 Platform owner: all centers -&gt; support view</a:t>
            </a:r>
          </a:p>
        </p:txBody>
      </p:sp>
    </p:spTree>
    <p:extLst>
      <p:ext uri="{BB962C8B-B14F-4D97-AF65-F5344CB8AC3E}">
        <p14:creationId xmlns:p14="http://schemas.microsoft.com/office/powerpoint/2010/main" val="1323757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1553</Words>
  <Application>Microsoft Office PowerPoint</Application>
  <PresentationFormat>Widescreen</PresentationFormat>
  <Paragraphs>167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AMD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Ponnuru, Rajeswari</dc:creator>
  <cp:lastModifiedBy>Ponnuru, Rajeswari</cp:lastModifiedBy>
  <cp:revision>1</cp:revision>
  <dcterms:created xsi:type="dcterms:W3CDTF">2026-07-23T00:05:11Z</dcterms:created>
  <dcterms:modified xsi:type="dcterms:W3CDTF">2026-07-23T00:05:11Z</dcterms:modified>
</cp:coreProperties>
</file>