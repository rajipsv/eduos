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643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18284-F584-17DA-CDFA-4E0EB6BB41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0EC0B3-BCAE-CCB4-5ACB-1DCE9E54E4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CFCC2F-FFDC-A761-C512-369071F9D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3B43E-577C-47EE-BCF7-1E6A47C470C0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BA9BF4-7BC3-5B67-F292-48D8F5A79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7B0A73-5C8C-373E-4661-0E32C3649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3963E-EF12-40CE-AE4A-14CAB0402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655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ADA00-6859-922A-90A2-53BBED48C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91D635-5CD6-A929-2B72-FD56B306C5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05469F-F155-686D-DD32-12EC7CB5D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3B43E-577C-47EE-BCF7-1E6A47C470C0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5C7175-46DC-2852-FE6C-13A73C862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9845A-302D-ACF0-76CE-2D27DDF38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3963E-EF12-40CE-AE4A-14CAB0402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016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DE15C-45B9-F89A-1027-9ECF8671F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4E02E5-97D1-A775-E5A1-228267248E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77C0C-0140-CCC4-D18D-A069A1A74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3B43E-577C-47EE-BCF7-1E6A47C470C0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07B748-457B-30E4-6F56-46B4F4E70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905F7-F796-7004-A152-2382D143D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3963E-EF12-40CE-AE4A-14CAB0402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3136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1C506-D4FB-5220-E0B4-FD884D74C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DE2844-A69F-30D3-5CBF-63F0520804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A8FA81-4DFA-24D6-7C68-CD4833890C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2B3F17-7D2D-D33B-8DA6-D3E61BC59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3B43E-577C-47EE-BCF7-1E6A47C470C0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18C79A-417D-997F-1EA4-E1E3F5FFD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AFB57F-1DE9-C1D2-4B94-58AB44964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3963E-EF12-40CE-AE4A-14CAB0402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382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0F127-2B97-5217-0274-4BC438929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DC0B2B-A37E-9FB9-7649-FFF3B25662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B5606D-B350-039E-1279-AF4B4CB0A1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D2A12C-5A5E-48A3-5951-B6677B4898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493D6E-B4BF-AFF6-1A7D-2AD97A0351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11B603-FDA1-6273-45B0-B6C550020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3B43E-577C-47EE-BCF7-1E6A47C470C0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FDD550-1086-C6F8-BB8F-359A221A6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E22AC9-D689-DE62-E585-BFD5327DF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3963E-EF12-40CE-AE4A-14CAB0402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779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3E823-8C89-9B86-8753-926BCEC48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A6F090-0D39-8ADF-5D1D-CAB5CAA36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3B43E-577C-47EE-BCF7-1E6A47C470C0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2D775C-C1A9-D136-2704-9B172BC4B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5D4447-A8B0-1773-B761-BC2D2601B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3963E-EF12-40CE-AE4A-14CAB0402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179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570251-5C0B-0820-5F78-BB2D8A9A5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3B43E-577C-47EE-BCF7-1E6A47C470C0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90D7DA-B350-3DDA-E068-05C9BBBAD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10F90E-B5C6-6203-4C46-06EF0BD4F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3963E-EF12-40CE-AE4A-14CAB0402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014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303EF-A9CE-AF1A-8DD8-5A0D27CA3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362C9-DE12-5AC9-5C3A-1D22292086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EC0119-01FF-B160-2265-A894991BBF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AC79E6-9FB3-4EEF-FB53-A7AB770D9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3B43E-577C-47EE-BCF7-1E6A47C470C0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2AFDA2-5BD4-B18C-23C1-5E910A44E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9C280A-1261-50DB-587A-17E547A1C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3963E-EF12-40CE-AE4A-14CAB0402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123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85B96-D71F-8C84-DA0D-9300C340A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882C6D-D85A-6ADD-9096-105B278BE9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C8C97E-1121-2851-FF69-8EAADBEB57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2670DD-8D48-9123-9645-6184A9942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3B43E-577C-47EE-BCF7-1E6A47C470C0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B352E2-5997-F5D4-2608-9DCB1DF6C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F66E24-25E5-AA68-4227-D03D73FE9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3963E-EF12-40CE-AE4A-14CAB0402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974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245C0-A062-8F25-3FA9-E5A64D6DE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21ACB8-9255-1D7B-0CCE-510CD10BD2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FC0AF6-5EE8-DD5F-C3C0-9314E6BB2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3B43E-577C-47EE-BCF7-1E6A47C470C0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114CD7-1818-B153-9877-4DC708E13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50C5DB-3B31-50CA-0919-5C6D1FB5E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3963E-EF12-40CE-AE4A-14CAB0402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656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B06634-97CB-9643-2BA2-300B1A4E56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D45720-A757-DC52-1EA3-10492F93A6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9287EC-9EC9-EAC1-6D9C-D3DB232CF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3B43E-577C-47EE-BCF7-1E6A47C470C0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C37281-0286-DEF0-2A54-A96989F15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8662D4-535C-47B3-A3A1-F008438E0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53963E-EF12-40CE-AE4A-14CAB0402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07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32AEE7-ADF2-2464-C390-D7C8590C1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DF2307-4822-21E6-588C-68E5C46D26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93E0D4-3436-972C-CB49-59FB908358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E3B43E-577C-47EE-BCF7-1E6A47C470C0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C93161-DB30-AE59-F5F9-37D0D65E25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005578-F5FC-54A6-8E9A-CAE2875393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53963E-EF12-40CE-AE4A-14CAB0402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135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6A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89BC12-82DB-F569-D56C-F456652A5940}"/>
              </a:ext>
            </a:extLst>
          </p:cNvPr>
          <p:cNvSpPr txBox="1"/>
          <p:nvPr/>
        </p:nvSpPr>
        <p:spPr>
          <a:xfrm>
            <a:off x="508000" y="1016000"/>
            <a:ext cx="8128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DCEBE4"/>
                </a:solidFill>
              </a:rPr>
              <a:t>TUITION CENTER OPERATIONS PLATFORM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111031-B4B8-95FF-F8B7-483A33A6C04D}"/>
              </a:ext>
            </a:extLst>
          </p:cNvPr>
          <p:cNvSpPr txBox="1"/>
          <p:nvPr/>
        </p:nvSpPr>
        <p:spPr>
          <a:xfrm>
            <a:off x="508000" y="1651000"/>
            <a:ext cx="8128000" cy="101566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6000" b="1">
                <a:solidFill>
                  <a:srgbClr val="FFFFFF"/>
                </a:solidFill>
              </a:rPr>
              <a:t>EduOS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8FED97-F2BB-6A58-1126-575441E072E4}"/>
              </a:ext>
            </a:extLst>
          </p:cNvPr>
          <p:cNvSpPr txBox="1"/>
          <p:nvPr/>
        </p:nvSpPr>
        <p:spPr>
          <a:xfrm>
            <a:off x="508000" y="2921000"/>
            <a:ext cx="7366000" cy="70788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>
                <a:solidFill>
                  <a:srgbClr val="F0F8F4"/>
                </a:solidFill>
              </a:rPr>
              <a:t>The operating system for education businesses. Acquire students, run operations, keep parents informed, and grow with confidence.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F902B0-E3F5-3B5C-4175-85B287E40A11}"/>
              </a:ext>
            </a:extLst>
          </p:cNvPr>
          <p:cNvSpPr txBox="1"/>
          <p:nvPr/>
        </p:nvSpPr>
        <p:spPr>
          <a:xfrm>
            <a:off x="508000" y="6096000"/>
            <a:ext cx="8128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C8DCD2"/>
                </a:solidFill>
              </a:rPr>
              <a:t>Product overview for tuition centers and coaching institutes | Confidential | 2026</a:t>
            </a:r>
          </a:p>
        </p:txBody>
      </p:sp>
    </p:spTree>
    <p:extLst>
      <p:ext uri="{BB962C8B-B14F-4D97-AF65-F5344CB8AC3E}">
        <p14:creationId xmlns:p14="http://schemas.microsoft.com/office/powerpoint/2010/main" val="2172351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7AA0936-F2C9-0F17-ED91-E0181E1ADCE5}"/>
              </a:ext>
            </a:extLst>
          </p:cNvPr>
          <p:cNvSpPr txBox="1"/>
          <p:nvPr/>
        </p:nvSpPr>
        <p:spPr>
          <a:xfrm>
            <a:off x="508000" y="355600"/>
            <a:ext cx="8128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200" b="1">
                <a:solidFill>
                  <a:srgbClr val="1B4332"/>
                </a:solidFill>
              </a:rPr>
              <a:t>The problem tuition centers face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A1E93F-217D-7F04-9795-67BDF8DAA437}"/>
              </a:ext>
            </a:extLst>
          </p:cNvPr>
          <p:cNvSpPr txBox="1"/>
          <p:nvPr/>
        </p:nvSpPr>
        <p:spPr>
          <a:xfrm>
            <a:off x="508000" y="990600"/>
            <a:ext cx="8128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3D4F3D"/>
                </a:solidFill>
              </a:rPr>
              <a:t>Most academies stitch together spreadsheets, chat groups, and disconnected tools.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C65763-7F6F-03DE-BBE3-1BBECDD98F42}"/>
              </a:ext>
            </a:extLst>
          </p:cNvPr>
          <p:cNvSpPr txBox="1"/>
          <p:nvPr/>
        </p:nvSpPr>
        <p:spPr>
          <a:xfrm>
            <a:off x="609600" y="1651000"/>
            <a:ext cx="8128000" cy="147732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>
                <a:solidFill>
                  <a:srgbClr val="1A2E1A"/>
                </a:solidFill>
              </a:rPr>
              <a:t>- Leads lost in notebooks and WhatsApp threads</a:t>
            </a:r>
          </a:p>
          <a:p>
            <a:r>
              <a:rPr lang="en-US">
                <a:solidFill>
                  <a:srgbClr val="1A2E1A"/>
                </a:solidFill>
              </a:rPr>
              <a:t>- Schedules in Excel - meeting links copied manually</a:t>
            </a:r>
          </a:p>
          <a:p>
            <a:r>
              <a:rPr lang="en-US">
                <a:solidFill>
                  <a:srgbClr val="1A2E1A"/>
                </a:solidFill>
              </a:rPr>
              <a:t>- Parents call daily for attendance and homework updates</a:t>
            </a:r>
          </a:p>
          <a:p>
            <a:r>
              <a:rPr lang="en-US">
                <a:solidFill>
                  <a:srgbClr val="1A2E1A"/>
                </a:solidFill>
              </a:rPr>
              <a:t>- Owners guess instead of deciding from data</a:t>
            </a:r>
          </a:p>
          <a:p>
            <a:r>
              <a:rPr lang="en-US">
                <a:solidFill>
                  <a:srgbClr val="1A2E1A"/>
                </a:solidFill>
              </a:rPr>
              <a:t>- Generic LMS tools want to host content, not run your business</a:t>
            </a:r>
          </a:p>
        </p:txBody>
      </p:sp>
    </p:spTree>
    <p:extLst>
      <p:ext uri="{BB962C8B-B14F-4D97-AF65-F5344CB8AC3E}">
        <p14:creationId xmlns:p14="http://schemas.microsoft.com/office/powerpoint/2010/main" val="37850405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8C6898-FFA4-06CB-ADA0-6F0F3FC06B2F}"/>
              </a:ext>
            </a:extLst>
          </p:cNvPr>
          <p:cNvSpPr txBox="1"/>
          <p:nvPr/>
        </p:nvSpPr>
        <p:spPr>
          <a:xfrm>
            <a:off x="508000" y="355600"/>
            <a:ext cx="8128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200" b="1">
                <a:solidFill>
                  <a:srgbClr val="1B4332"/>
                </a:solidFill>
              </a:rPr>
              <a:t>Fragmented vs unified operations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3E2B27-DCA5-BF31-B88C-D574F896FA0A}"/>
              </a:ext>
            </a:extLst>
          </p:cNvPr>
          <p:cNvSpPr txBox="1"/>
          <p:nvPr/>
        </p:nvSpPr>
        <p:spPr>
          <a:xfrm>
            <a:off x="508000" y="1143000"/>
            <a:ext cx="3937000" cy="181588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>
                <a:solidFill>
                  <a:srgbClr val="782828"/>
                </a:solidFill>
              </a:rPr>
              <a:t>Today (fragmented)</a:t>
            </a:r>
          </a:p>
          <a:p>
            <a:endParaRPr lang="en-US" sz="1600">
              <a:solidFill>
                <a:srgbClr val="782828"/>
              </a:solidFill>
            </a:endParaRPr>
          </a:p>
          <a:p>
            <a:r>
              <a:rPr lang="en-US" sz="1600">
                <a:solidFill>
                  <a:srgbClr val="782828"/>
                </a:solidFill>
              </a:rPr>
              <a:t>- Manual lead tracking</a:t>
            </a:r>
          </a:p>
          <a:p>
            <a:r>
              <a:rPr lang="en-US" sz="1600">
                <a:solidFill>
                  <a:srgbClr val="782828"/>
                </a:solidFill>
              </a:rPr>
              <a:t>- Excel schedules</a:t>
            </a:r>
          </a:p>
          <a:p>
            <a:r>
              <a:rPr lang="en-US" sz="1600">
                <a:solidFill>
                  <a:srgbClr val="782828"/>
                </a:solidFill>
              </a:rPr>
              <a:t>- Reactive parent calls</a:t>
            </a:r>
          </a:p>
          <a:p>
            <a:r>
              <a:rPr lang="en-US" sz="1600">
                <a:solidFill>
                  <a:srgbClr val="782828"/>
                </a:solidFill>
              </a:rPr>
              <a:t>- No decision support</a:t>
            </a:r>
          </a:p>
          <a:p>
            <a:r>
              <a:rPr lang="en-US" sz="1600">
                <a:solidFill>
                  <a:srgbClr val="782828"/>
                </a:solidFill>
              </a:rPr>
              <a:t>- LMS is not business ops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990AC9-CECF-82DE-9882-FD48F99D52A1}"/>
              </a:ext>
            </a:extLst>
          </p:cNvPr>
          <p:cNvSpPr txBox="1"/>
          <p:nvPr/>
        </p:nvSpPr>
        <p:spPr>
          <a:xfrm>
            <a:off x="4699000" y="1143000"/>
            <a:ext cx="3937000" cy="181588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>
                <a:solidFill>
                  <a:srgbClr val="2D6A4F"/>
                </a:solidFill>
              </a:rPr>
              <a:t>With EduOS</a:t>
            </a:r>
          </a:p>
          <a:p>
            <a:endParaRPr lang="en-US" sz="1600">
              <a:solidFill>
                <a:srgbClr val="2D6A4F"/>
              </a:solidFill>
            </a:endParaRPr>
          </a:p>
          <a:p>
            <a:r>
              <a:rPr lang="en-US" sz="1600">
                <a:solidFill>
                  <a:srgbClr val="2D6A4F"/>
                </a:solidFill>
              </a:rPr>
              <a:t>- CRM pipeline to enrollment</a:t>
            </a:r>
          </a:p>
          <a:p>
            <a:r>
              <a:rPr lang="en-US" sz="1600">
                <a:solidFill>
                  <a:srgbClr val="2D6A4F"/>
                </a:solidFill>
              </a:rPr>
              <a:t>- Auto-schedule and meeting links</a:t>
            </a:r>
          </a:p>
          <a:p>
            <a:r>
              <a:rPr lang="en-US" sz="1600">
                <a:solidFill>
                  <a:srgbClr val="2D6A4F"/>
                </a:solidFill>
              </a:rPr>
              <a:t>- WhatsApp and email automations</a:t>
            </a:r>
          </a:p>
          <a:p>
            <a:r>
              <a:rPr lang="en-US" sz="1600">
                <a:solidFill>
                  <a:srgbClr val="2D6A4F"/>
                </a:solidFill>
              </a:rPr>
              <a:t>- BI: what to do today</a:t>
            </a:r>
          </a:p>
          <a:p>
            <a:r>
              <a:rPr lang="en-US" sz="1600">
                <a:solidFill>
                  <a:srgbClr val="2D6A4F"/>
                </a:solidFill>
              </a:rPr>
              <a:t>- Works with Zoom and Meet</a:t>
            </a:r>
          </a:p>
        </p:txBody>
      </p:sp>
    </p:spTree>
    <p:extLst>
      <p:ext uri="{BB962C8B-B14F-4D97-AF65-F5344CB8AC3E}">
        <p14:creationId xmlns:p14="http://schemas.microsoft.com/office/powerpoint/2010/main" val="20650517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FFCFC5-08EB-BFEA-18E6-09E00BBF2059}"/>
              </a:ext>
            </a:extLst>
          </p:cNvPr>
          <p:cNvSpPr txBox="1"/>
          <p:nvPr/>
        </p:nvSpPr>
        <p:spPr>
          <a:xfrm>
            <a:off x="508000" y="355600"/>
            <a:ext cx="8128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200" b="1">
                <a:solidFill>
                  <a:srgbClr val="1B4332"/>
                </a:solidFill>
              </a:rPr>
              <a:t>Ops platform - not an LMS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D1007B-F60B-89DD-A3CA-4B7E4509B5C5}"/>
              </a:ext>
            </a:extLst>
          </p:cNvPr>
          <p:cNvSpPr txBox="1"/>
          <p:nvPr/>
        </p:nvSpPr>
        <p:spPr>
          <a:xfrm>
            <a:off x="508000" y="1143000"/>
            <a:ext cx="3810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b="1">
                <a:solidFill>
                  <a:srgbClr val="2D6A4F"/>
                </a:solidFill>
              </a:rPr>
              <a:t>EduOS handles operations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970EA1-782F-5669-9604-03FC88054E7C}"/>
              </a:ext>
            </a:extLst>
          </p:cNvPr>
          <p:cNvSpPr txBox="1"/>
          <p:nvPr/>
        </p:nvSpPr>
        <p:spPr>
          <a:xfrm>
            <a:off x="508000" y="1498600"/>
            <a:ext cx="3810000" cy="73866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1A2E1A"/>
                </a:solidFill>
              </a:rPr>
              <a:t>CRM, batches, schedules, attendance, tests, homework tracking, parent communication, tutor performance, and business intelligence.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7C2540-AA95-2A57-7399-B1BDC2529633}"/>
              </a:ext>
            </a:extLst>
          </p:cNvPr>
          <p:cNvSpPr txBox="1"/>
          <p:nvPr/>
        </p:nvSpPr>
        <p:spPr>
          <a:xfrm>
            <a:off x="4699000" y="1143000"/>
            <a:ext cx="3810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b="1">
                <a:solidFill>
                  <a:srgbClr val="2D6A4F"/>
                </a:solidFill>
              </a:rPr>
              <a:t>Tutors keep teaching their way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AB3B46-401F-133A-E8AD-17707AE046D3}"/>
              </a:ext>
            </a:extLst>
          </p:cNvPr>
          <p:cNvSpPr txBox="1"/>
          <p:nvPr/>
        </p:nvSpPr>
        <p:spPr>
          <a:xfrm>
            <a:off x="4699000" y="1498600"/>
            <a:ext cx="3810000" cy="73866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1A2E1A"/>
                </a:solidFill>
              </a:rPr>
              <a:t>EduOS does not replace Zoom, Google Meet, or your curriculum platforms. It coordinates logistics and gives everyone visibility.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9AA927-C689-5B28-FB6B-33D276A5E6E8}"/>
              </a:ext>
            </a:extLst>
          </p:cNvPr>
          <p:cNvSpPr txBox="1"/>
          <p:nvPr/>
        </p:nvSpPr>
        <p:spPr>
          <a:xfrm>
            <a:off x="508000" y="4318000"/>
            <a:ext cx="8128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600" b="1">
                <a:solidFill>
                  <a:srgbClr val="2D6A4F"/>
                </a:solidFill>
              </a:rPr>
              <a:t>9 layers | 5 role portals | Multi-center ready | No content hosting required</a:t>
            </a:r>
          </a:p>
        </p:txBody>
      </p:sp>
    </p:spTree>
    <p:extLst>
      <p:ext uri="{BB962C8B-B14F-4D97-AF65-F5344CB8AC3E}">
        <p14:creationId xmlns:p14="http://schemas.microsoft.com/office/powerpoint/2010/main" val="30199200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DE3000-0DC2-6962-8874-5A5B2AB9C256}"/>
              </a:ext>
            </a:extLst>
          </p:cNvPr>
          <p:cNvSpPr txBox="1"/>
          <p:nvPr/>
        </p:nvSpPr>
        <p:spPr>
          <a:xfrm>
            <a:off x="508000" y="355600"/>
            <a:ext cx="8128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200" b="1">
                <a:solidFill>
                  <a:srgbClr val="1B4332"/>
                </a:solidFill>
              </a:rPr>
              <a:t>Nine layers - part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012BEE-DF5A-DD5F-3D23-1CC6AE679B43}"/>
              </a:ext>
            </a:extLst>
          </p:cNvPr>
          <p:cNvSpPr txBox="1"/>
          <p:nvPr/>
        </p:nvSpPr>
        <p:spPr>
          <a:xfrm>
            <a:off x="508000" y="990600"/>
            <a:ext cx="8128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3D4F3D"/>
                </a:solidFill>
              </a:rPr>
              <a:t>Every module a tuition center needs in one product.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2FFEC2-C8C1-E972-C018-53879491D236}"/>
              </a:ext>
            </a:extLst>
          </p:cNvPr>
          <p:cNvSpPr txBox="1"/>
          <p:nvPr/>
        </p:nvSpPr>
        <p:spPr>
          <a:xfrm>
            <a:off x="609600" y="1651000"/>
            <a:ext cx="8128000" cy="147732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>
                <a:solidFill>
                  <a:srgbClr val="1A2E1A"/>
                </a:solidFill>
              </a:rPr>
              <a:t>- 1 Education CRM - public site, leads, demos, enrollment</a:t>
            </a:r>
          </a:p>
          <a:p>
            <a:r>
              <a:rPr lang="en-US">
                <a:solidFill>
                  <a:srgbClr val="1A2E1A"/>
                </a:solidFill>
              </a:rPr>
              <a:t>- 2 Academy OS - batches, schedule, teachers, attendance, tests</a:t>
            </a:r>
          </a:p>
          <a:p>
            <a:r>
              <a:rPr lang="en-US">
                <a:solidFill>
                  <a:srgbClr val="1A2E1A"/>
                </a:solidFill>
              </a:rPr>
              <a:t>- 3 Communication - WhatsApp, email, SMS, automations</a:t>
            </a:r>
          </a:p>
          <a:p>
            <a:r>
              <a:rPr lang="en-US">
                <a:solidFill>
                  <a:srgbClr val="1A2E1A"/>
                </a:solidFill>
              </a:rPr>
              <a:t>- 4 Student Success - journeys, homework, interventions, certificates</a:t>
            </a:r>
          </a:p>
          <a:p>
            <a:r>
              <a:rPr lang="en-US">
                <a:solidFill>
                  <a:srgbClr val="1A2E1A"/>
                </a:solidFill>
              </a:rPr>
              <a:t>- 5 Tutor Success - lesson plans, homework review, performance, PD</a:t>
            </a:r>
          </a:p>
        </p:txBody>
      </p:sp>
    </p:spTree>
    <p:extLst>
      <p:ext uri="{BB962C8B-B14F-4D97-AF65-F5344CB8AC3E}">
        <p14:creationId xmlns:p14="http://schemas.microsoft.com/office/powerpoint/2010/main" val="2060830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54ACA5-E3CE-F1E0-19F4-346ACF6B304D}"/>
              </a:ext>
            </a:extLst>
          </p:cNvPr>
          <p:cNvSpPr txBox="1"/>
          <p:nvPr/>
        </p:nvSpPr>
        <p:spPr>
          <a:xfrm>
            <a:off x="508000" y="355600"/>
            <a:ext cx="8128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200" b="1">
                <a:solidFill>
                  <a:srgbClr val="1B4332"/>
                </a:solidFill>
              </a:rPr>
              <a:t>Nine layers - part 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AD108B-DA75-1ECA-34A6-FC4F63B4BEF6}"/>
              </a:ext>
            </a:extLst>
          </p:cNvPr>
          <p:cNvSpPr txBox="1"/>
          <p:nvPr/>
        </p:nvSpPr>
        <p:spPr>
          <a:xfrm>
            <a:off x="609600" y="1651000"/>
            <a:ext cx="8128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>
                <a:solidFill>
                  <a:srgbClr val="1A2E1A"/>
                </a:solidFill>
              </a:rPr>
              <a:t>- 6 Parent Experience - progress, homework, attendance, messages</a:t>
            </a:r>
          </a:p>
          <a:p>
            <a:r>
              <a:rPr lang="en-US">
                <a:solidFill>
                  <a:srgbClr val="1A2E1A"/>
                </a:solidFill>
              </a:rPr>
              <a:t>- 7 AI Assistants - insights, drafts, role-aware guidance</a:t>
            </a:r>
          </a:p>
          <a:p>
            <a:r>
              <a:rPr lang="en-US">
                <a:solidFill>
                  <a:srgbClr val="1A2E1A"/>
                </a:solidFill>
              </a:rPr>
              <a:t>- 8 Business Intelligence - KPIs, trends, daily decisions</a:t>
            </a:r>
          </a:p>
          <a:p>
            <a:r>
              <a:rPr lang="en-US">
                <a:solidFill>
                  <a:srgbClr val="1A2E1A"/>
                </a:solidFill>
              </a:rPr>
              <a:t>- 9 Extensions and Partners - Zoom, calendar, Twilio connections</a:t>
            </a:r>
          </a:p>
        </p:txBody>
      </p:sp>
    </p:spTree>
    <p:extLst>
      <p:ext uri="{BB962C8B-B14F-4D97-AF65-F5344CB8AC3E}">
        <p14:creationId xmlns:p14="http://schemas.microsoft.com/office/powerpoint/2010/main" val="40444882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8E88EA-BCC9-CA51-9745-CCE12DCC2CEC}"/>
              </a:ext>
            </a:extLst>
          </p:cNvPr>
          <p:cNvSpPr txBox="1"/>
          <p:nvPr/>
        </p:nvSpPr>
        <p:spPr>
          <a:xfrm>
            <a:off x="508000" y="355600"/>
            <a:ext cx="8128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200" b="1">
                <a:solidFill>
                  <a:srgbClr val="1B4332"/>
                </a:solidFill>
              </a:rPr>
              <a:t>Built for every stakeholder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0DE829-E1C9-98E6-B502-C6E6CF1EBF45}"/>
              </a:ext>
            </a:extLst>
          </p:cNvPr>
          <p:cNvSpPr txBox="1"/>
          <p:nvPr/>
        </p:nvSpPr>
        <p:spPr>
          <a:xfrm>
            <a:off x="609600" y="1651000"/>
            <a:ext cx="8128000" cy="147732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>
                <a:solidFill>
                  <a:srgbClr val="1A2E1A"/>
                </a:solidFill>
              </a:rPr>
              <a:t>- Center owner - full dashboard, CRM, BI, all layers</a:t>
            </a:r>
          </a:p>
          <a:p>
            <a:r>
              <a:rPr lang="en-US">
                <a:solidFill>
                  <a:srgbClr val="1A2E1A"/>
                </a:solidFill>
              </a:rPr>
              <a:t>- Teacher - today classes, attendance, homework, my students</a:t>
            </a:r>
          </a:p>
          <a:p>
            <a:r>
              <a:rPr lang="en-US">
                <a:solidFill>
                  <a:srgbClr val="1A2E1A"/>
                </a:solidFill>
              </a:rPr>
              <a:t>- Parent - child progress, homework status, messages (read-only)</a:t>
            </a:r>
          </a:p>
          <a:p>
            <a:r>
              <a:rPr lang="en-US">
                <a:solidFill>
                  <a:srgbClr val="1A2E1A"/>
                </a:solidFill>
              </a:rPr>
              <a:t>- Student - schedule and homework submit</a:t>
            </a:r>
          </a:p>
          <a:p>
            <a:r>
              <a:rPr lang="en-US">
                <a:solidFill>
                  <a:srgbClr val="1A2E1A"/>
                </a:solidFill>
              </a:rPr>
              <a:t>- Platform operator - all centers, onboarding, support view</a:t>
            </a:r>
          </a:p>
        </p:txBody>
      </p:sp>
    </p:spTree>
    <p:extLst>
      <p:ext uri="{BB962C8B-B14F-4D97-AF65-F5344CB8AC3E}">
        <p14:creationId xmlns:p14="http://schemas.microsoft.com/office/powerpoint/2010/main" val="128555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1C1443-CB13-F34E-E7A3-5C8E03BDF0A4}"/>
              </a:ext>
            </a:extLst>
          </p:cNvPr>
          <p:cNvSpPr txBox="1"/>
          <p:nvPr/>
        </p:nvSpPr>
        <p:spPr>
          <a:xfrm>
            <a:off x="508000" y="355600"/>
            <a:ext cx="81280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000" b="1">
                <a:solidFill>
                  <a:srgbClr val="1B4332"/>
                </a:solidFill>
              </a:rPr>
              <a:t>Workflow: inquiry to enrolled student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01FC13-2885-397E-BA81-592C6DE911CF}"/>
              </a:ext>
            </a:extLst>
          </p:cNvPr>
          <p:cNvSpPr txBox="1"/>
          <p:nvPr/>
        </p:nvSpPr>
        <p:spPr>
          <a:xfrm>
            <a:off x="508000" y="1206500"/>
            <a:ext cx="81280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700" b="1">
                <a:solidFill>
                  <a:srgbClr val="2D6A4F"/>
                </a:solidFill>
              </a:rPr>
              <a:t>Website &gt; CRM &gt; Demo &gt; Counseling &gt; Batch &gt; Enrolled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2E6467-6A12-A145-6054-62B4C5143282}"/>
              </a:ext>
            </a:extLst>
          </p:cNvPr>
          <p:cNvSpPr txBox="1"/>
          <p:nvPr/>
        </p:nvSpPr>
        <p:spPr>
          <a:xfrm>
            <a:off x="609600" y="1905000"/>
            <a:ext cx="8128000" cy="147732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>
                <a:solidFill>
                  <a:srgbClr val="1A2E1A"/>
                </a:solidFill>
              </a:rPr>
              <a:t>- Capture leads from website, WhatsApp, walk-ins, ads</a:t>
            </a:r>
          </a:p>
          <a:p>
            <a:r>
              <a:rPr lang="en-US">
                <a:solidFill>
                  <a:srgbClr val="1A2E1A"/>
                </a:solidFill>
              </a:rPr>
              <a:t>- Visual pipeline with follow-up reminders</a:t>
            </a:r>
          </a:p>
          <a:p>
            <a:r>
              <a:rPr lang="en-US">
                <a:solidFill>
                  <a:srgbClr val="1A2E1A"/>
                </a:solidFill>
              </a:rPr>
              <a:t>- Schedule demo classes from lead detail</a:t>
            </a:r>
          </a:p>
          <a:p>
            <a:r>
              <a:rPr lang="en-US">
                <a:solidFill>
                  <a:srgbClr val="1A2E1A"/>
                </a:solidFill>
              </a:rPr>
              <a:t>- One-click enroll into a batch</a:t>
            </a:r>
          </a:p>
          <a:p>
            <a:r>
              <a:rPr lang="en-US">
                <a:solidFill>
                  <a:srgbClr val="1A2E1A"/>
                </a:solidFill>
              </a:rPr>
              <a:t>- Parent automations from day one</a:t>
            </a:r>
          </a:p>
        </p:txBody>
      </p:sp>
    </p:spTree>
    <p:extLst>
      <p:ext uri="{BB962C8B-B14F-4D97-AF65-F5344CB8AC3E}">
        <p14:creationId xmlns:p14="http://schemas.microsoft.com/office/powerpoint/2010/main" val="40554465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365E1A-223E-D793-4B72-E460FF90CC03}"/>
              </a:ext>
            </a:extLst>
          </p:cNvPr>
          <p:cNvSpPr txBox="1"/>
          <p:nvPr/>
        </p:nvSpPr>
        <p:spPr>
          <a:xfrm>
            <a:off x="508000" y="355600"/>
            <a:ext cx="81280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000" b="1">
                <a:solidFill>
                  <a:srgbClr val="1B4332"/>
                </a:solidFill>
              </a:rPr>
              <a:t>Workflow: running classes every week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D8C2CD-D103-B39D-5AA1-AB01B8288DD0}"/>
              </a:ext>
            </a:extLst>
          </p:cNvPr>
          <p:cNvSpPr txBox="1"/>
          <p:nvPr/>
        </p:nvSpPr>
        <p:spPr>
          <a:xfrm>
            <a:off x="508000" y="1206500"/>
            <a:ext cx="81280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700" b="1">
                <a:solidFill>
                  <a:srgbClr val="2D6A4F"/>
                </a:solidFill>
              </a:rPr>
              <a:t>Batch &gt; Auto-schedule &gt; Meeting links &gt; Attendance &gt; Notify parents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8C222D-2AA9-0904-D342-17B45B576175}"/>
              </a:ext>
            </a:extLst>
          </p:cNvPr>
          <p:cNvSpPr txBox="1"/>
          <p:nvPr/>
        </p:nvSpPr>
        <p:spPr>
          <a:xfrm>
            <a:off x="609600" y="1905000"/>
            <a:ext cx="8128000" cy="147732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>
                <a:solidFill>
                  <a:srgbClr val="1A2E1A"/>
                </a:solidFill>
              </a:rPr>
              <a:t>- Pick days, times, topics - one topic = one class</a:t>
            </a:r>
          </a:p>
          <a:p>
            <a:r>
              <a:rPr lang="en-US">
                <a:solidFill>
                  <a:srgbClr val="1A2E1A"/>
                </a:solidFill>
              </a:rPr>
              <a:t>- Auto-generate schedule with Meet, Zoom, Teams links</a:t>
            </a:r>
          </a:p>
          <a:p>
            <a:r>
              <a:rPr lang="en-US">
                <a:solidFill>
                  <a:srgbClr val="1A2E1A"/>
                </a:solidFill>
              </a:rPr>
              <a:t>- Teachers mark attendance on any device</a:t>
            </a:r>
          </a:p>
          <a:p>
            <a:r>
              <a:rPr lang="en-US">
                <a:solidFill>
                  <a:srgbClr val="1A2E1A"/>
                </a:solidFill>
              </a:rPr>
              <a:t>- Record tests - averages roll up automatically</a:t>
            </a:r>
          </a:p>
          <a:p>
            <a:r>
              <a:rPr lang="en-US">
                <a:solidFill>
                  <a:srgbClr val="1A2E1A"/>
                </a:solidFill>
              </a:rPr>
              <a:t>- Event-driven WhatsApp and email to parents</a:t>
            </a:r>
          </a:p>
        </p:txBody>
      </p:sp>
    </p:spTree>
    <p:extLst>
      <p:ext uri="{BB962C8B-B14F-4D97-AF65-F5344CB8AC3E}">
        <p14:creationId xmlns:p14="http://schemas.microsoft.com/office/powerpoint/2010/main" val="27741513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60687D-1586-109D-E1FE-1B6E3FADA397}"/>
              </a:ext>
            </a:extLst>
          </p:cNvPr>
          <p:cNvSpPr txBox="1"/>
          <p:nvPr/>
        </p:nvSpPr>
        <p:spPr>
          <a:xfrm>
            <a:off x="508000" y="355600"/>
            <a:ext cx="81280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000" b="1">
                <a:solidFill>
                  <a:srgbClr val="1B4332"/>
                </a:solidFill>
              </a:rPr>
              <a:t>Workflow: homework and parent visibility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925307-FF6A-CB43-4A86-EC7A9E61981C}"/>
              </a:ext>
            </a:extLst>
          </p:cNvPr>
          <p:cNvSpPr txBox="1"/>
          <p:nvPr/>
        </p:nvSpPr>
        <p:spPr>
          <a:xfrm>
            <a:off x="508000" y="1206500"/>
            <a:ext cx="3810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b="1">
                <a:solidFill>
                  <a:srgbClr val="2D6A4F"/>
                </a:solidFill>
              </a:rPr>
              <a:t>Staff (admin and teachers)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92BACD-7366-C30D-79DC-4BDEBADCC8C9}"/>
              </a:ext>
            </a:extLst>
          </p:cNvPr>
          <p:cNvSpPr txBox="1"/>
          <p:nvPr/>
        </p:nvSpPr>
        <p:spPr>
          <a:xfrm>
            <a:off x="508000" y="1587500"/>
            <a:ext cx="3810000" cy="73866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1A2E1A"/>
                </a:solidFill>
              </a:rPr>
              <a:t>Create assignments, issue certificates, post feedback, review submissions. Interventions when students fall behind.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796F82-7D7E-354E-CDB9-0434630DFE2A}"/>
              </a:ext>
            </a:extLst>
          </p:cNvPr>
          <p:cNvSpPr txBox="1"/>
          <p:nvPr/>
        </p:nvSpPr>
        <p:spPr>
          <a:xfrm>
            <a:off x="4699000" y="1206500"/>
            <a:ext cx="3810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b="1">
                <a:solidFill>
                  <a:srgbClr val="2D6A4F"/>
                </a:solidFill>
              </a:rPr>
              <a:t>Parents and students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48A996-1A60-2E0E-ABCA-9A1673ACA4E4}"/>
              </a:ext>
            </a:extLst>
          </p:cNvPr>
          <p:cNvSpPr txBox="1"/>
          <p:nvPr/>
        </p:nvSpPr>
        <p:spPr>
          <a:xfrm>
            <a:off x="4699000" y="1587500"/>
            <a:ext cx="3810000" cy="73866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1A2E1A"/>
                </a:solidFill>
              </a:rPr>
              <a:t>Parents see homework and progress without admin clutter. Students submit work; parents stay informed via portal and WhatsApp.</a:t>
            </a:r>
          </a:p>
        </p:txBody>
      </p:sp>
    </p:spTree>
    <p:extLst>
      <p:ext uri="{BB962C8B-B14F-4D97-AF65-F5344CB8AC3E}">
        <p14:creationId xmlns:p14="http://schemas.microsoft.com/office/powerpoint/2010/main" val="6527949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B431851-892F-3D63-038D-5CBB4D8FF569}"/>
              </a:ext>
            </a:extLst>
          </p:cNvPr>
          <p:cNvSpPr txBox="1"/>
          <p:nvPr/>
        </p:nvSpPr>
        <p:spPr>
          <a:xfrm>
            <a:off x="508000" y="355600"/>
            <a:ext cx="8128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200" b="1">
                <a:solidFill>
                  <a:srgbClr val="1B4332"/>
                </a:solidFill>
              </a:rPr>
              <a:t>Multi-center ready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B09485-7026-3842-7ACF-53A137787B38}"/>
              </a:ext>
            </a:extLst>
          </p:cNvPr>
          <p:cNvSpPr txBox="1"/>
          <p:nvPr/>
        </p:nvSpPr>
        <p:spPr>
          <a:xfrm>
            <a:off x="508000" y="990600"/>
            <a:ext cx="8128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3D4F3D"/>
                </a:solidFill>
              </a:rPr>
              <a:t>Built for franchise operators and independent academies alike.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A60DD5-E4A6-DDBC-537A-7923D3E7ADD2}"/>
              </a:ext>
            </a:extLst>
          </p:cNvPr>
          <p:cNvSpPr txBox="1"/>
          <p:nvPr/>
        </p:nvSpPr>
        <p:spPr>
          <a:xfrm>
            <a:off x="609600" y="1651000"/>
            <a:ext cx="8128000" cy="147732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>
                <a:solidFill>
                  <a:srgbClr val="1A2E1A"/>
                </a:solidFill>
              </a:rPr>
              <a:t>- Platform dashboard - all tuition centers on one EduOS instance</a:t>
            </a:r>
          </a:p>
          <a:p>
            <a:r>
              <a:rPr lang="en-US">
                <a:solidFill>
                  <a:srgbClr val="1A2E1A"/>
                </a:solidFill>
              </a:rPr>
              <a:t>- Support view - help a center without sharing passwords</a:t>
            </a:r>
          </a:p>
          <a:p>
            <a:r>
              <a:rPr lang="en-US">
                <a:solidFill>
                  <a:srgbClr val="1A2E1A"/>
                </a:solidFill>
              </a:rPr>
              <a:t>- Self-serve registration - new center gets full workspace instantly</a:t>
            </a:r>
          </a:p>
          <a:p>
            <a:r>
              <a:rPr lang="en-US">
                <a:solidFill>
                  <a:srgbClr val="1A2E1A"/>
                </a:solidFill>
              </a:rPr>
              <a:t>- Isolated data per center - teachers, students, parents scoped</a:t>
            </a:r>
          </a:p>
          <a:p>
            <a:r>
              <a:rPr lang="en-US">
                <a:solidFill>
                  <a:srgbClr val="1A2E1A"/>
                </a:solidFill>
              </a:rPr>
              <a:t>- Suspend and monitor centers from platform owner console</a:t>
            </a:r>
          </a:p>
        </p:txBody>
      </p:sp>
    </p:spTree>
    <p:extLst>
      <p:ext uri="{BB962C8B-B14F-4D97-AF65-F5344CB8AC3E}">
        <p14:creationId xmlns:p14="http://schemas.microsoft.com/office/powerpoint/2010/main" val="37435163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1B1B8D-3524-CE2E-2224-FE8B27E62F27}"/>
              </a:ext>
            </a:extLst>
          </p:cNvPr>
          <p:cNvSpPr txBox="1"/>
          <p:nvPr/>
        </p:nvSpPr>
        <p:spPr>
          <a:xfrm>
            <a:off x="508000" y="355600"/>
            <a:ext cx="8128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200" b="1">
                <a:solidFill>
                  <a:srgbClr val="1B4332"/>
                </a:solidFill>
              </a:rPr>
              <a:t>Why centers choose EduOS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98EFC3-1493-0A2E-545A-062ACCDE9026}"/>
              </a:ext>
            </a:extLst>
          </p:cNvPr>
          <p:cNvSpPr txBox="1"/>
          <p:nvPr/>
        </p:nvSpPr>
        <p:spPr>
          <a:xfrm>
            <a:off x="609600" y="1651000"/>
            <a:ext cx="8128000" cy="175432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>
                <a:solidFill>
                  <a:srgbClr val="1A2E1A"/>
                </a:solidFill>
              </a:rPr>
              <a:t>- Lead-to-enrollment CRM - built in, not bolted on</a:t>
            </a:r>
          </a:p>
          <a:p>
            <a:r>
              <a:rPr lang="en-US">
                <a:solidFill>
                  <a:srgbClr val="1A2E1A"/>
                </a:solidFill>
              </a:rPr>
              <a:t>- Topic-based auto scheduling - not manual calendar entry</a:t>
            </a:r>
          </a:p>
          <a:p>
            <a:r>
              <a:rPr lang="en-US">
                <a:solidFill>
                  <a:srgbClr val="1A2E1A"/>
                </a:solidFill>
              </a:rPr>
              <a:t>- Parent WhatsApp automations - event-driven, not manual blasts</a:t>
            </a:r>
          </a:p>
          <a:p>
            <a:r>
              <a:rPr lang="en-US">
                <a:solidFill>
                  <a:srgbClr val="1A2E1A"/>
                </a:solidFill>
              </a:rPr>
              <a:t>- Teacher workspace - ops-focused, not content-focused</a:t>
            </a:r>
          </a:p>
          <a:p>
            <a:r>
              <a:rPr lang="en-US">
                <a:solidFill>
                  <a:srgbClr val="1A2E1A"/>
                </a:solidFill>
              </a:rPr>
              <a:t>- Decision engine - action cards, not static reports only</a:t>
            </a:r>
          </a:p>
          <a:p>
            <a:r>
              <a:rPr lang="en-US">
                <a:solidFill>
                  <a:srgbClr val="1A2E1A"/>
                </a:solidFill>
              </a:rPr>
              <a:t>- Native multi-center - scale as a platform business</a:t>
            </a:r>
          </a:p>
        </p:txBody>
      </p:sp>
    </p:spTree>
    <p:extLst>
      <p:ext uri="{BB962C8B-B14F-4D97-AF65-F5344CB8AC3E}">
        <p14:creationId xmlns:p14="http://schemas.microsoft.com/office/powerpoint/2010/main" val="21222459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6A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F62D6F-2B53-6015-34F4-7A701983B9C0}"/>
              </a:ext>
            </a:extLst>
          </p:cNvPr>
          <p:cNvSpPr txBox="1"/>
          <p:nvPr/>
        </p:nvSpPr>
        <p:spPr>
          <a:xfrm>
            <a:off x="508000" y="762000"/>
            <a:ext cx="8128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600" b="1">
                <a:solidFill>
                  <a:srgbClr val="FFFFFF"/>
                </a:solidFill>
              </a:rPr>
              <a:t>See EduOS in action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BC11BD-CE5F-789E-6323-5CC218ED215C}"/>
              </a:ext>
            </a:extLst>
          </p:cNvPr>
          <p:cNvSpPr txBox="1"/>
          <p:nvPr/>
        </p:nvSpPr>
        <p:spPr>
          <a:xfrm>
            <a:off x="609600" y="1651000"/>
            <a:ext cx="8128000" cy="258532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>
                <a:solidFill>
                  <a:srgbClr val="F0F8F4"/>
                </a:solidFill>
              </a:rPr>
              <a:t>Live demo - every role in one session:</a:t>
            </a:r>
          </a:p>
          <a:p>
            <a:endParaRPr lang="en-US">
              <a:solidFill>
                <a:srgbClr val="F0F8F4"/>
              </a:solidFill>
            </a:endParaRPr>
          </a:p>
          <a:p>
            <a:r>
              <a:rPr lang="en-US">
                <a:solidFill>
                  <a:srgbClr val="F0F8F4"/>
                </a:solidFill>
              </a:rPr>
              <a:t>- Center owner: CRM, batch, schedule, BI decisions</a:t>
            </a:r>
          </a:p>
          <a:p>
            <a:r>
              <a:rPr lang="en-US">
                <a:solidFill>
                  <a:srgbClr val="F0F8F4"/>
                </a:solidFill>
              </a:rPr>
              <a:t>- Teacher: classes, attendance, homework</a:t>
            </a:r>
          </a:p>
          <a:p>
            <a:r>
              <a:rPr lang="en-US">
                <a:solidFill>
                  <a:srgbClr val="F0F8F4"/>
                </a:solidFill>
              </a:rPr>
              <a:t>- Parent: progress portal and automated updates</a:t>
            </a:r>
          </a:p>
          <a:p>
            <a:r>
              <a:rPr lang="en-US">
                <a:solidFill>
                  <a:srgbClr val="F0F8F4"/>
                </a:solidFill>
              </a:rPr>
              <a:t>- Platform operator: multi-center dashboard</a:t>
            </a:r>
          </a:p>
          <a:p>
            <a:endParaRPr lang="en-US">
              <a:solidFill>
                <a:srgbClr val="F0F8F4"/>
              </a:solidFill>
            </a:endParaRPr>
          </a:p>
          <a:p>
            <a:r>
              <a:rPr lang="en-US">
                <a:solidFill>
                  <a:srgbClr val="F0F8F4"/>
                </a:solidFill>
              </a:rPr>
              <a:t>Contact: hello@eduos.app</a:t>
            </a:r>
          </a:p>
          <a:p>
            <a:r>
              <a:rPr lang="en-US">
                <a:solidFill>
                  <a:srgbClr val="F0F8F4"/>
                </a:solidFill>
              </a:rPr>
              <a:t>Demo: run start.bat then open http://127.0.0.1:8888</a:t>
            </a:r>
          </a:p>
        </p:txBody>
      </p:sp>
    </p:spTree>
    <p:extLst>
      <p:ext uri="{BB962C8B-B14F-4D97-AF65-F5344CB8AC3E}">
        <p14:creationId xmlns:p14="http://schemas.microsoft.com/office/powerpoint/2010/main" val="494347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784</Words>
  <Application>Microsoft Office PowerPoint</Application>
  <PresentationFormat>Widescreen</PresentationFormat>
  <Paragraphs>93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AMD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Ponnuru, Rajeswari</dc:creator>
  <cp:lastModifiedBy>Ponnuru, Rajeswari</cp:lastModifiedBy>
  <cp:revision>1</cp:revision>
  <dcterms:created xsi:type="dcterms:W3CDTF">2026-07-23T00:02:18Z</dcterms:created>
  <dcterms:modified xsi:type="dcterms:W3CDTF">2026-07-23T00:02:18Z</dcterms:modified>
</cp:coreProperties>
</file>